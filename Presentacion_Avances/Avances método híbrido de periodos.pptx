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0920" autoAdjust="0"/>
  </p:normalViewPr>
  <p:slideViewPr>
    <p:cSldViewPr snapToGrid="0" snapToObjects="1">
      <p:cViewPr varScale="1">
        <p:scale>
          <a:sx n="100" d="100"/>
          <a:sy n="100" d="100"/>
        </p:scale>
        <p:origin x="9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763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Presentarse en una frase. Anunciar que la charla muestra los avances: la caracterización de los dos métodos y el método combinado para binarias eclipsantes, que ya supera a Lomb–Scargle de forma significativa. Duración objetivo: 20 minutos, unas 17 diapositivas de contenido.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recorrido en una frase por parte. Distribución de tiempo sugerida para 20 minutos: estado del arte, motivación y objetivos, unos 5 minutos (diapositivas 3 a 7); datos, 1.5 minutos (8); metodología, 4 minutos (9 a 12); resultados, 6 minutos (13 a 17); conclusiones, 1 minuto (18); cronograma, 1.5 minutos (19). Unos 30 segundos.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morfologías que se estudian en el proyecto: Cefeidas clásicas, RR Lyrae y binarias eclipsantes, todas de OGLE. Mencionar que el periodo es el dato del que dependen masas, radios, luminosidades, la clasificación y, en las Cefeidas, la distancia por la relación periodo–luminosidad. Notar ya la diferencia de forma: las pulsantes tienen una sola joroba por ciclo y las binarias tienen dos eclipses estrechos. Esa diferencia será clave más adelante. Unos 60 segundos.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Lomb–Scargle: para cada frecuencia ajusta una sinusoide por mínimos cuadrados; la potencia es la fracción de varianza que esa sinusoide explica. Funciona muy bien con curvas casi sinusoidales y reparte su potencia entre armónicos cuando la curva no lo es. Mínima entropía: se pliega la curva con cada periodo de prueba, se divide el cuadrado fase–magnitud en L×K celdas y se calcula la entropía de Shannon de la ocupación. El periodo correcto concentra los puntos en pocas celdas y da la entropía mínima. No supone ninguna forma, por eso es atractivo para eclipses.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antecedentes, sin entrar en detalle. Graham et al. (2013) es la comparación de referencia: los métodos de dispersión de fase y la entropía condicional ganan, pero el aliasing y los armónicos siguen siendo problemas significativos. Dubath et al. (2011) muestran el caso concreto de las binarias: Lomb–Scargle da la mitad del periodo en el 82% y la solución práctica fue duplicar. Henao (2021), trabajo de grado dirigido también por el profesor García, mostró que la entropía tiene picos falsos en la cadencia diaria sin corrección sencilla. Coughlin et al. (2021) ya combinan Lomb–Scargle y entropía condicional en ZTF, pero de forma jerárquica.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motivación sale directamente de los antecedentes: la fortaleza de Lomb–Scargle, ubicar rápido las frecuencias relevantes, es lo que le falta a la entropía; y la fortaleza de la entropía, no suponer una forma, es lo que le falta a Lomb–Scargle. La propuesta es aplicarlos en paralelo sobre la misma grilla y no uno como filtro del otro. Leer la pregunta en voz alta. Unos 60 segundos.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objetivo general y nombrar los cuatro específicos sin detenerse. Adelantar que el 1 y el 2 están cumplidos para binarias, el 4 avanza con OGLE y el 3 está pendiente; eso se retoma en el cronograma. Unos 45 segundos.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disponibles hoy son los subcatálogos del OGLE Collection of Variable Stars: 41 471 RR Lyrae y 40 204 binarias, todas en la Nube Mayor de Magallanes, y 11 689 Cefeidas clásicas en ambas Nubes y el disco. Más del 94% tiene fotometría individual, sobre todo en banda I, con líneas base de varios años y aproximadamente una observación por noche. El 96% de las binarias son de no-contacto. Las curvas sintéticas, VVV en el infrarrojo y TESS desde el espacio están descritas en la tesis, pero todavía no se han usado.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experimentos. Primero, la caracterización individual: 500 estrellas de cada tipo, con ambos métodos sobre las mismas curvas. Segundo, el método híbrido, evaluado en una muestra nueva de 1000 binarias para no ajustar el diseño a la primera muestra. En los dos, un acierto es un error relativo menor al 1% respecto del periodo de OGLE, y el catálogo solo se usa para evaluar. Unos 45 segundos.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general antes de entrar en detalle. Primera etapa: Lomb–Scargle y entropía condicional se calculan en paralelo sobre la misma grilla uniforme de 10^5 frecuencias, entre 0.1 y 100 d, y se combinan en un producto de rangos que da un periodo P0. Segunda etapa: como sabemos que en binarias P0 suele ser la mitad del periodo, se evalúan los múltiplos 1 a 6 de P0 con modelos de Fourier y el criterio BIC. Recalcar que nada de esto usa el catálogo, que solo se usa al final para evaluar. Unos 60 segundos.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ingredientes. Primero, en lugar de la entropía de Shannon se usa la entropía condicional de Graham et al. (2013): a la entropía conjunta se le resta la de la cobertura en fase, así que los plegados que dejan columnas vacías por la cadencia dejan de parecer ordenados. Segundo, como las escalas no son comparables, cada criterio se pasa a percentil y se multiplican, una adaptación del producto de rangos de Breitling et al. (2004) con el orden invertido para premiar la frecuencia buena en ambos criterios. En el ejemplo, Lomb–Scargle cae en un pico espurio en 0.4365 d; el producto elige el doble de la frecuencia catalogada, y al duplicar se recuperan los dos eclipses.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cada candidato nP0 se le ajusta una serie de Fourier con nH0 armónicos; así todos los modelos tienen la misma resolución temporal y el modelo en P0 queda contenido en todos los demás. Se comparan con el BIC de Schwarz. Una selección libre del mínimo BIC falló: la penalización por pasar de n=1 a n=2 es de unos 51 y, si los eclipses son parecidos, la mejora del ajuste no la compensa. Por eso la regla es de dos niveles: n=2 por defecto, como hicieron Dubath et al. (2011) con Hipparcos, y un múltiplo mayor solo si el BIC lo prefiere estrictamente. En el ejemplo, OGLE-LMC-ECL-14782, el BIC elige n=6 y recupera 9.202 d, el periodo catalogado.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Lomb–Scargle es casi perfecto en pulsantes: 98.2% en Cefeidas y 98.4% en RR Lyrae. La mínima entropía, sin ajustes, queda muy por debajo: 20.6% y 63.0%. En binarias ambos fallan, pero de forma distinta: Lomb–Scargle encuentra casi siempre la mitad del periodo, porque dos eclipses por órbita se parecen a una sinusoide del doble de frecuencia. Al aceptar 2P pasa de 3.8% a 74.8%: el error es sistemático y por eso corregible.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entropía de Shannon falla por la cadencia: con una observación por noche, plegar en fracciones simples de un día deja columnas de fase vacías y la entropía baja sin que la curva esté ordenada. Arriba, el mínimo global cae en el día sidéreo; pasa en 995 de 1000 binarias, y enmascarar esas fracciones tapa el 61.1% de la grilla, así que no es solución. Abajo, la entropía condicional de la misma estrella: los mínimos falsos desaparecen y queda un mínimo aislado en 3.4695 d, la mitad del periodo catalogado. Por sí sola tiene 27.5% de aciertos directos, la mejor tasa directa de todos los métodos. Unos 60 segundos.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evaluó sobre una muestra nueva de 1000 binarias, con una semilla distinta a la del capítulo anterior, para no ajustar el diseño a los datos. Leer por columnas: directo, duplicar siempre, la regla híbrida y el techo. El techo usa el catálogo y solo indica la máxima tasa alcanzable con los múltiplos 1 a 6 de P0; no es un método. El producto de rangos con la regla híbrida da 75.3%, la mejor tasa sin catálogo. La referencia natural es Lomb–Scargle duplicando siempre, 68.1%: la ganancia es de 7.2 puntos, 3.7 de la búsqueda combinada y 3.5 del BIC. Llama la atención que la entropía condicional sola tiene el techo más alto pero rinde poco tras la regla, porque sus errores no son tan regulares como el factor 2 de Lomb–Scargle. Unos 90 segundos.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intervalos de Wilson se solapan en parte: 72.5 a 77.9% para el híbrido y 69.3 a 74.9% para Lomb–Scargle con la misma regla. Pero esa comparación es conservadora, porque todos se evalúan sobre las mismas estrellas. La prueba exacta de McNemar mira solo las discordantes: frente a Lomb–Scargle con la regla híbrida, 47 estrellas las acierta solo el híbrido y 16 solo Lomb–Scargle, p = 1.2e-4; frente a duplicar siempre, 44 contra 9, p = 1.2e-6. Además, el resultado es estable al partir la muestra y casi no depende de H0: entre 74.4% y 75.3% para H0 de 2 a 8. Advertir que H0 = 4 se eligió sobre esta muestra, un sesgo menor a un punto.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compara el múltiplo real con el elegido; la diagonal son aciertos. De los 247 fallos, 133 están en la última fila: la búsqueda global dio un P0 sin relación armónica con la órbita y ninguna regla podría corregirlos; son sobre todo binarias de periodo largo. Los otros 114 tenían un múltiplo correcto que la regla no eligió. Contando todo, 113 fallos son errores de factor exactamente 2: 68 en la mitad y 45 en el doble. Por ejemplo, los 41 casos en que P0 ya era el periodo orbital no se pueden recuperar porque la regla nunca baja de n = 2. Con solo la fotometría, distinguir dos eclipses casi iguales de uno solo sigue siendo la limitación principal. Unos 75 segundos.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Repetir los cuatro mensajes en voz alta, en una frase cada uno. Son preliminares: el método solo se ha probado en binarias de OGLE. Después viene el cronograma, que cierra la charla; durante las preguntas conviene volver a esta diapositiva. Unos 60 segundos.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cronograma de 16 semanas de la propuesta, con el estado actual. Las caracterizaciones de ambos métodos y el diseño del método combinado están completos, este último para binarias. La aplicación a datos reales y el análisis estadístico van adelantados en OGLE: ya hay 2500 estrellas evaluadas y pruebas de significancia. Lo atrasado es la parte sintética: generar las curvas y validar con ellas, que estaban para las semanas 6 a 11. Plan para las semanas restantes: curvas sintéticas y su validación, evaluar la búsqueda global en Cefeidas y RR Lyrae, y aplicar el método a VVV y TESS antes de la redacción final en las semanas 14 a 16. Unos 90 segundos.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después de las conclusiones. No se presenta; queda disponible si alguien pregunta por una fuente.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9144000" cy="759402"/>
          </a:xfrm>
          <a:prstGeom prst="rect">
            <a:avLst/>
          </a:prstGeom>
          <a:noFill/>
          <a:ln/>
        </p:spPr>
        <p:txBody>
          <a:bodyPr wrap="square" lIns="0" tIns="0" rIns="0" bIns="0" rtlCol="0" anchor="t"/>
          <a:lstStyle>
            <a:lvl1pPr marL="0" indent="0" algn="l">
              <a:lnSpc>
                <a:spcPct val="115000"/>
              </a:lnSpc>
              <a:buNone/>
              <a:defRPr lang="en-US" sz="2600" dirty="0">
                <a:solidFill>
                  <a:srgbClr val="141412"/>
                </a:solidFill>
                <a:latin typeface="Archivo Black" pitchFamily="34" charset="0"/>
                <a:ea typeface="Archivo Black" pitchFamily="34" charset="-122"/>
                <a:cs typeface="Archivo Black"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673802"/>
            <a:ext cx="10566400" cy="4371398"/>
          </a:xfrm>
          <a:prstGeom prst="rect">
            <a:avLst/>
          </a:prstGeom>
          <a:noFill/>
          <a:ln/>
        </p:spPr>
        <p:txBody>
          <a:bodyPr wrap="square" lIns="0" tIns="0" rIns="0" bIns="0" rtlCol="0" anchor="t"/>
          <a:lstStyle>
            <a:lvl1pPr marL="0" indent="0" algn="l">
              <a:lnSpc>
                <a:spcPct val="140000"/>
              </a:lnSpc>
              <a:buNone/>
              <a:defRPr lang="en-US" sz="1600" dirty="0">
                <a:solidFill>
                  <a:srgbClr val="141412"/>
                </a:solidFill>
                <a:latin typeface="Libre Franklin" pitchFamily="34" charset="0"/>
                <a:ea typeface="Libre Franklin" pitchFamily="34" charset="-122"/>
                <a:cs typeface="Libre Franklin"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9144000" cy="759402"/>
          </a:xfrm>
          <a:prstGeom prst="rect">
            <a:avLst/>
          </a:prstGeom>
          <a:noFill/>
          <a:ln/>
        </p:spPr>
        <p:txBody>
          <a:bodyPr wrap="square" lIns="0" tIns="0" rIns="0" bIns="0" rtlCol="0" anchor="t"/>
          <a:lstStyle>
            <a:lvl1pPr marL="0" indent="0" algn="l">
              <a:lnSpc>
                <a:spcPct val="115000"/>
              </a:lnSpc>
              <a:buNone/>
              <a:defRPr lang="en-US" sz="2600" dirty="0">
                <a:solidFill>
                  <a:srgbClr val="141412"/>
                </a:solidFill>
                <a:latin typeface="Archivo Black" pitchFamily="34" charset="0"/>
                <a:ea typeface="Archivo Black" pitchFamily="34" charset="-122"/>
                <a:cs typeface="Archivo Black"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673802"/>
            <a:ext cx="10566400" cy="4371398"/>
          </a:xfrm>
          <a:prstGeom prst="rect">
            <a:avLst/>
          </a:prstGeom>
          <a:noFill/>
          <a:ln/>
        </p:spPr>
        <p:txBody>
          <a:bodyPr wrap="square" lIns="0" tIns="0" rIns="0" bIns="0" rtlCol="0" anchor="t"/>
          <a:lstStyle>
            <a:lvl1pPr marL="0" indent="0" algn="l">
              <a:lnSpc>
                <a:spcPct val="140000"/>
              </a:lnSpc>
              <a:buNone/>
              <a:defRPr lang="en-US" sz="1600" dirty="0">
                <a:solidFill>
                  <a:srgbClr val="141412"/>
                </a:solidFill>
                <a:latin typeface="Libre Franklin" pitchFamily="34" charset="0"/>
                <a:ea typeface="Libre Franklin" pitchFamily="34" charset="-122"/>
                <a:cs typeface="Libre Franklin"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905000"/>
            <a:ext cx="3556000" cy="3556000"/>
          </a:xfrm>
          <a:prstGeom prst="rect">
            <a:avLst/>
          </a:prstGeom>
          <a:gradFill rotWithShape="1">
            <a:gsLst>
              <a:gs pos="0">
                <a:srgbClr val="FFFFFF">
                  <a:alpha val="0"/>
                </a:srgbClr>
              </a:gs>
              <a:gs pos="41000">
                <a:srgbClr val="4596A4">
                  <a:alpha val="0"/>
                </a:srgbClr>
              </a:gs>
              <a:gs pos="41000">
                <a:srgbClr val="4596A4"/>
              </a:gs>
              <a:gs pos="63000">
                <a:srgbClr val="4596A4"/>
              </a:gs>
              <a:gs pos="63000">
                <a:srgbClr val="4596A4">
                  <a:alpha val="0"/>
                </a:srgbClr>
              </a:gs>
            </a:gsLst>
            <a:lin ang="18900000" scaled="0"/>
          </a:gradFill>
          <a:ln/>
        </p:spPr>
        <p:txBody>
          <a:bodyPr/>
          <a:lstStyle/>
          <a:p>
            <a:endParaRPr lang="es-CO"/>
          </a:p>
        </p:txBody>
      </p:sp>
      <p:sp>
        <p:nvSpPr>
          <p:cNvPr id="3" name="Shape 1"/>
          <p:cNvSpPr/>
          <p:nvPr/>
        </p:nvSpPr>
        <p:spPr>
          <a:xfrm>
            <a:off x="1905000" y="3810000"/>
            <a:ext cx="3048000" cy="3048000"/>
          </a:xfrm>
          <a:prstGeom prst="rect">
            <a:avLst/>
          </a:prstGeom>
          <a:gradFill rotWithShape="1">
            <a:gsLst>
              <a:gs pos="0">
                <a:srgbClr val="F5D04C"/>
              </a:gs>
              <a:gs pos="50000">
                <a:srgbClr val="F5D04C"/>
              </a:gs>
              <a:gs pos="50000">
                <a:srgbClr val="F5D04C">
                  <a:alpha val="0"/>
                </a:srgbClr>
              </a:gs>
            </a:gsLst>
            <a:lin ang="18900000" scaled="0"/>
          </a:gradFill>
          <a:ln/>
        </p:spPr>
        <p:txBody>
          <a:bodyPr/>
          <a:lstStyle/>
          <a:p>
            <a:endParaRPr lang="es-CO"/>
          </a:p>
        </p:txBody>
      </p:sp>
      <p:sp>
        <p:nvSpPr>
          <p:cNvPr id="4" name="Shape 2"/>
          <p:cNvSpPr/>
          <p:nvPr/>
        </p:nvSpPr>
        <p:spPr>
          <a:xfrm>
            <a:off x="0" y="4318000"/>
            <a:ext cx="2540000" cy="2540000"/>
          </a:xfrm>
          <a:prstGeom prst="rect">
            <a:avLst/>
          </a:prstGeom>
          <a:gradFill rotWithShape="1">
            <a:gsLst>
              <a:gs pos="0">
                <a:srgbClr val="7BA654"/>
              </a:gs>
              <a:gs pos="50000">
                <a:srgbClr val="7BA654"/>
              </a:gs>
              <a:gs pos="50000">
                <a:srgbClr val="7BA654">
                  <a:alpha val="0"/>
                </a:srgbClr>
              </a:gs>
            </a:gsLst>
            <a:lin ang="18900000" scaled="0"/>
          </a:gradFill>
          <a:ln/>
        </p:spPr>
        <p:txBody>
          <a:bodyPr/>
          <a:lstStyle/>
          <a:p>
            <a:endParaRPr lang="es-CO"/>
          </a:p>
        </p:txBody>
      </p:sp>
      <p:pic>
        <p:nvPicPr>
          <p:cNvPr id="5" name="Image 0" descr="Logo de la Universidad de los Andes, Facultad de Ciencias, Departamento de Física"/>
          <p:cNvPicPr>
            <a:picLocks noChangeAspect="1"/>
          </p:cNvPicPr>
          <p:nvPr/>
        </p:nvPicPr>
        <p:blipFill>
          <a:blip r:embed="rId3"/>
          <a:srcRect l="-76" r="-76"/>
          <a:stretch/>
        </p:blipFill>
        <p:spPr>
          <a:xfrm>
            <a:off x="609600" y="406400"/>
            <a:ext cx="2413000" cy="1130300"/>
          </a:xfrm>
          <a:prstGeom prst="rect">
            <a:avLst/>
          </a:prstGeom>
        </p:spPr>
      </p:pic>
      <p:sp>
        <p:nvSpPr>
          <p:cNvPr id="6" name="Text 3"/>
          <p:cNvSpPr>
            <a:spLocks noGrp="1"/>
          </p:cNvSpPr>
          <p:nvPr>
            <p:ph type="title"/>
          </p:nvPr>
        </p:nvSpPr>
        <p:spPr>
          <a:xfrm>
            <a:off x="3661410" y="952500"/>
            <a:ext cx="7717790" cy="2300937"/>
          </a:xfrm>
          <a:prstGeom prst="rect">
            <a:avLst/>
          </a:prstGeom>
          <a:noFill/>
          <a:ln/>
        </p:spPr>
        <p:txBody>
          <a:bodyPr wrap="square" lIns="0" tIns="0" rIns="0" bIns="0" rtlCol="0" anchor="t">
            <a:normAutofit/>
          </a:bodyPr>
          <a:lstStyle/>
          <a:p>
            <a:pPr marL="0" indent="0" algn="r">
              <a:lnSpc>
                <a:spcPts val="3584"/>
              </a:lnSpc>
              <a:buNone/>
            </a:pPr>
            <a:r>
              <a:rPr lang="en-US" sz="3200" b="0" i="0" dirty="0">
                <a:solidFill>
                  <a:srgbClr val="141412"/>
                </a:solidFill>
                <a:latin typeface="Archivo Black" pitchFamily="34" charset="0"/>
                <a:ea typeface="Archivo Black" pitchFamily="34" charset="-122"/>
                <a:cs typeface="Archivo Black" pitchFamily="34" charset="-120"/>
              </a:rPr>
              <a:t>Determinación de periodicidad en estrellas variables mediante la combinación del periodograma de Lomb–Scargle y el método de mínima entropía</a:t>
            </a:r>
            <a:endParaRPr lang="en-US" sz="3200" dirty="0"/>
          </a:p>
        </p:txBody>
      </p:sp>
      <p:sp>
        <p:nvSpPr>
          <p:cNvPr id="7" name="Shape 4"/>
          <p:cNvSpPr/>
          <p:nvPr/>
        </p:nvSpPr>
        <p:spPr>
          <a:xfrm>
            <a:off x="9474200" y="3670300"/>
            <a:ext cx="1905000" cy="88900"/>
          </a:xfrm>
          <a:prstGeom prst="rect">
            <a:avLst/>
          </a:prstGeom>
          <a:solidFill>
            <a:srgbClr val="5E7E3E"/>
          </a:solidFill>
          <a:ln/>
        </p:spPr>
        <p:txBody>
          <a:bodyPr/>
          <a:lstStyle/>
          <a:p>
            <a:endParaRPr lang="es-CO"/>
          </a:p>
        </p:txBody>
      </p:sp>
      <p:sp>
        <p:nvSpPr>
          <p:cNvPr id="8" name="Text 5"/>
          <p:cNvSpPr/>
          <p:nvPr/>
        </p:nvSpPr>
        <p:spPr>
          <a:xfrm>
            <a:off x="5564794" y="4000500"/>
            <a:ext cx="5814406"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141412"/>
                </a:solidFill>
                <a:latin typeface="Libre Franklin" pitchFamily="34" charset="0"/>
                <a:ea typeface="Libre Franklin" pitchFamily="34" charset="-122"/>
                <a:cs typeface="Libre Franklin" pitchFamily="34" charset="-120"/>
              </a:rPr>
              <a:t>Presentación de avances · Proyecto final</a:t>
            </a:r>
            <a:endParaRPr lang="en-US" sz="2000" dirty="0"/>
          </a:p>
        </p:txBody>
      </p:sp>
      <p:sp>
        <p:nvSpPr>
          <p:cNvPr id="9" name="Text 6"/>
          <p:cNvSpPr/>
          <p:nvPr/>
        </p:nvSpPr>
        <p:spPr>
          <a:xfrm>
            <a:off x="8890144" y="4445000"/>
            <a:ext cx="2489056" cy="345426"/>
          </a:xfrm>
          <a:prstGeom prst="rect">
            <a:avLst/>
          </a:prstGeom>
          <a:noFill/>
          <a:ln/>
        </p:spPr>
        <p:txBody>
          <a:bodyPr wrap="square" lIns="0" tIns="0" rIns="0" bIns="0" rtlCol="0" anchor="t">
            <a:normAutofit/>
          </a:bodyPr>
          <a:lstStyle/>
          <a:p>
            <a:pPr marL="0" indent="0" algn="r">
              <a:lnSpc>
                <a:spcPts val="2520"/>
              </a:lnSpc>
              <a:buNone/>
            </a:pPr>
            <a:r>
              <a:rPr lang="en-US" sz="1800" dirty="0">
                <a:solidFill>
                  <a:srgbClr val="2E2E2A"/>
                </a:solidFill>
                <a:latin typeface="Libre Franklin" pitchFamily="34" charset="0"/>
                <a:ea typeface="Libre Franklin" pitchFamily="34" charset="-122"/>
                <a:cs typeface="Libre Franklin" pitchFamily="34" charset="-120"/>
              </a:rPr>
              <a:t>Juan David Aparicio</a:t>
            </a:r>
            <a:endParaRPr lang="en-US" sz="1800" dirty="0"/>
          </a:p>
        </p:txBody>
      </p:sp>
      <p:sp>
        <p:nvSpPr>
          <p:cNvPr id="10" name="Text 7"/>
          <p:cNvSpPr/>
          <p:nvPr/>
        </p:nvSpPr>
        <p:spPr>
          <a:xfrm>
            <a:off x="7053378" y="4853926"/>
            <a:ext cx="4325822" cy="345426"/>
          </a:xfrm>
          <a:prstGeom prst="rect">
            <a:avLst/>
          </a:prstGeom>
          <a:noFill/>
          <a:ln/>
        </p:spPr>
        <p:txBody>
          <a:bodyPr wrap="square" lIns="0" tIns="0" rIns="0" bIns="0" rtlCol="0" anchor="t">
            <a:normAutofit/>
          </a:bodyPr>
          <a:lstStyle/>
          <a:p>
            <a:pPr marL="0" indent="0" algn="r">
              <a:lnSpc>
                <a:spcPts val="2520"/>
              </a:lnSpc>
              <a:buNone/>
            </a:pPr>
            <a:r>
              <a:rPr lang="en-US" sz="1800" dirty="0">
                <a:solidFill>
                  <a:srgbClr val="2E2E2A"/>
                </a:solidFill>
                <a:latin typeface="Libre Franklin" pitchFamily="34" charset="0"/>
                <a:ea typeface="Libre Franklin" pitchFamily="34" charset="-122"/>
                <a:cs typeface="Libre Franklin" pitchFamily="34" charset="-120"/>
              </a:rPr>
              <a:t>Director: Prof. Dr. Alejandro García</a:t>
            </a:r>
            <a:endParaRPr lang="en-US" sz="1800" dirty="0"/>
          </a:p>
        </p:txBody>
      </p:sp>
      <p:sp>
        <p:nvSpPr>
          <p:cNvPr id="11" name="Text 8"/>
          <p:cNvSpPr/>
          <p:nvPr/>
        </p:nvSpPr>
        <p:spPr>
          <a:xfrm>
            <a:off x="9979545" y="5262851"/>
            <a:ext cx="1399655" cy="309851"/>
          </a:xfrm>
          <a:prstGeom prst="rect">
            <a:avLst/>
          </a:prstGeom>
          <a:noFill/>
          <a:ln/>
        </p:spPr>
        <p:txBody>
          <a:bodyPr wrap="square" lIns="0" tIns="0" rIns="0" bIns="0" rtlCol="0" anchor="t">
            <a:normAutofit/>
          </a:bodyPr>
          <a:lstStyle/>
          <a:p>
            <a:pPr marL="0" indent="0" algn="r">
              <a:lnSpc>
                <a:spcPts val="2240"/>
              </a:lnSpc>
              <a:buNone/>
            </a:pPr>
            <a:r>
              <a:rPr lang="en-US" sz="1600" dirty="0">
                <a:solidFill>
                  <a:srgbClr val="4A4A45"/>
                </a:solidFill>
                <a:latin typeface="Libre Franklin" pitchFamily="34" charset="0"/>
                <a:ea typeface="Libre Franklin" pitchFamily="34" charset="-122"/>
                <a:cs typeface="Libre Franklin" pitchFamily="34" charset="-120"/>
              </a:rPr>
              <a:t>08/10/2026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La charla recorre seis partes, del estado del arte al cronograma</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sp>
        <p:nvSpPr>
          <p:cNvPr id="5" name="Shape 3"/>
          <p:cNvSpPr/>
          <p:nvPr/>
        </p:nvSpPr>
        <p:spPr>
          <a:xfrm>
            <a:off x="812800" y="1750002"/>
            <a:ext cx="3386643" cy="1944399"/>
          </a:xfrm>
          <a:prstGeom prst="rect">
            <a:avLst/>
          </a:prstGeom>
          <a:solidFill>
            <a:srgbClr val="F6F6F2"/>
          </a:solidFill>
          <a:ln/>
        </p:spPr>
        <p:txBody>
          <a:bodyPr/>
          <a:lstStyle/>
          <a:p>
            <a:endParaRPr lang="es-CO"/>
          </a:p>
        </p:txBody>
      </p:sp>
      <p:sp>
        <p:nvSpPr>
          <p:cNvPr id="6" name="Shape 4"/>
          <p:cNvSpPr/>
          <p:nvPr/>
        </p:nvSpPr>
        <p:spPr>
          <a:xfrm>
            <a:off x="850900" y="1750002"/>
            <a:ext cx="0" cy="1944399"/>
          </a:xfrm>
          <a:prstGeom prst="line">
            <a:avLst/>
          </a:prstGeom>
          <a:noFill/>
          <a:ln w="76200">
            <a:solidFill>
              <a:srgbClr val="4596A4"/>
            </a:solidFill>
            <a:prstDash val="solid"/>
          </a:ln>
        </p:spPr>
        <p:txBody>
          <a:bodyPr/>
          <a:lstStyle/>
          <a:p>
            <a:endParaRPr lang="es-CO"/>
          </a:p>
        </p:txBody>
      </p:sp>
      <p:pic>
        <p:nvPicPr>
          <p:cNvPr id="7" name="Image 0" descr="Book"/>
          <p:cNvPicPr>
            <a:picLocks noChangeAspect="1"/>
          </p:cNvPicPr>
          <p:nvPr/>
        </p:nvPicPr>
        <p:blipFill>
          <a:blip r:embed="rId3"/>
          <a:srcRect t="-240" b="-240"/>
          <a:stretch/>
        </p:blipFill>
        <p:spPr>
          <a:xfrm>
            <a:off x="1089891" y="2519002"/>
            <a:ext cx="315985" cy="406400"/>
          </a:xfrm>
          <a:prstGeom prst="rect">
            <a:avLst/>
          </a:prstGeom>
        </p:spPr>
      </p:pic>
      <p:sp>
        <p:nvSpPr>
          <p:cNvPr id="8" name="Text 5"/>
          <p:cNvSpPr/>
          <p:nvPr/>
        </p:nvSpPr>
        <p:spPr>
          <a:xfrm>
            <a:off x="1583676" y="2447925"/>
            <a:ext cx="2484944" cy="57395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1. Estado del arte y objetivos</a:t>
            </a:r>
            <a:endParaRPr lang="en-US" sz="1800" dirty="0"/>
          </a:p>
        </p:txBody>
      </p:sp>
      <p:sp>
        <p:nvSpPr>
          <p:cNvPr id="9" name="Shape 6"/>
          <p:cNvSpPr/>
          <p:nvPr/>
        </p:nvSpPr>
        <p:spPr>
          <a:xfrm>
            <a:off x="4402643" y="1750002"/>
            <a:ext cx="3386643" cy="1944399"/>
          </a:xfrm>
          <a:prstGeom prst="rect">
            <a:avLst/>
          </a:prstGeom>
          <a:solidFill>
            <a:srgbClr val="F6F6F2"/>
          </a:solidFill>
          <a:ln/>
        </p:spPr>
        <p:txBody>
          <a:bodyPr/>
          <a:lstStyle/>
          <a:p>
            <a:endParaRPr lang="es-CO"/>
          </a:p>
        </p:txBody>
      </p:sp>
      <p:sp>
        <p:nvSpPr>
          <p:cNvPr id="10" name="Shape 7"/>
          <p:cNvSpPr/>
          <p:nvPr/>
        </p:nvSpPr>
        <p:spPr>
          <a:xfrm>
            <a:off x="4440743" y="1750002"/>
            <a:ext cx="0" cy="1944399"/>
          </a:xfrm>
          <a:prstGeom prst="line">
            <a:avLst/>
          </a:prstGeom>
          <a:noFill/>
          <a:ln w="76200">
            <a:solidFill>
              <a:srgbClr val="4596A4"/>
            </a:solidFill>
            <a:prstDash val="solid"/>
          </a:ln>
        </p:spPr>
        <p:txBody>
          <a:bodyPr/>
          <a:lstStyle/>
          <a:p>
            <a:endParaRPr lang="es-CO"/>
          </a:p>
        </p:txBody>
      </p:sp>
      <p:pic>
        <p:nvPicPr>
          <p:cNvPr id="11" name="Image 1" descr="Database"/>
          <p:cNvPicPr>
            <a:picLocks noChangeAspect="1"/>
          </p:cNvPicPr>
          <p:nvPr/>
        </p:nvPicPr>
        <p:blipFill>
          <a:blip r:embed="rId4"/>
          <a:srcRect/>
          <a:stretch/>
        </p:blipFill>
        <p:spPr>
          <a:xfrm>
            <a:off x="4679734" y="2519002"/>
            <a:ext cx="406400" cy="406400"/>
          </a:xfrm>
          <a:prstGeom prst="rect">
            <a:avLst/>
          </a:prstGeom>
        </p:spPr>
      </p:pic>
      <p:sp>
        <p:nvSpPr>
          <p:cNvPr id="12" name="Text 8"/>
          <p:cNvSpPr/>
          <p:nvPr/>
        </p:nvSpPr>
        <p:spPr>
          <a:xfrm>
            <a:off x="5263934" y="2585027"/>
            <a:ext cx="1081347"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2. Datos</a:t>
            </a:r>
            <a:endParaRPr lang="en-US" sz="1800" dirty="0"/>
          </a:p>
        </p:txBody>
      </p:sp>
      <p:sp>
        <p:nvSpPr>
          <p:cNvPr id="13" name="Shape 9"/>
          <p:cNvSpPr/>
          <p:nvPr/>
        </p:nvSpPr>
        <p:spPr>
          <a:xfrm>
            <a:off x="7992486" y="1750002"/>
            <a:ext cx="3386643" cy="1944399"/>
          </a:xfrm>
          <a:prstGeom prst="rect">
            <a:avLst/>
          </a:prstGeom>
          <a:solidFill>
            <a:srgbClr val="F6F6F2"/>
          </a:solidFill>
          <a:ln/>
        </p:spPr>
        <p:txBody>
          <a:bodyPr/>
          <a:lstStyle/>
          <a:p>
            <a:endParaRPr lang="es-CO"/>
          </a:p>
        </p:txBody>
      </p:sp>
      <p:sp>
        <p:nvSpPr>
          <p:cNvPr id="14" name="Shape 10"/>
          <p:cNvSpPr/>
          <p:nvPr/>
        </p:nvSpPr>
        <p:spPr>
          <a:xfrm>
            <a:off x="8030586" y="1750002"/>
            <a:ext cx="0" cy="1944399"/>
          </a:xfrm>
          <a:prstGeom prst="line">
            <a:avLst/>
          </a:prstGeom>
          <a:noFill/>
          <a:ln w="76200">
            <a:solidFill>
              <a:srgbClr val="7BA654"/>
            </a:solidFill>
            <a:prstDash val="solid"/>
          </a:ln>
        </p:spPr>
        <p:txBody>
          <a:bodyPr/>
          <a:lstStyle/>
          <a:p>
            <a:endParaRPr lang="es-CO"/>
          </a:p>
        </p:txBody>
      </p:sp>
      <p:pic>
        <p:nvPicPr>
          <p:cNvPr id="15" name="Image 2" descr="Settings"/>
          <p:cNvPicPr>
            <a:picLocks noChangeAspect="1"/>
          </p:cNvPicPr>
          <p:nvPr/>
        </p:nvPicPr>
        <p:blipFill>
          <a:blip r:embed="rId5"/>
          <a:srcRect/>
          <a:stretch/>
        </p:blipFill>
        <p:spPr>
          <a:xfrm>
            <a:off x="8269577" y="2519002"/>
            <a:ext cx="406400" cy="406400"/>
          </a:xfrm>
          <a:prstGeom prst="rect">
            <a:avLst/>
          </a:prstGeom>
        </p:spPr>
      </p:pic>
      <p:sp>
        <p:nvSpPr>
          <p:cNvPr id="16" name="Text 11"/>
          <p:cNvSpPr/>
          <p:nvPr/>
        </p:nvSpPr>
        <p:spPr>
          <a:xfrm>
            <a:off x="8853777" y="2585027"/>
            <a:ext cx="1973147"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3. Metodología</a:t>
            </a:r>
            <a:endParaRPr lang="en-US" sz="1800" dirty="0"/>
          </a:p>
        </p:txBody>
      </p:sp>
      <p:sp>
        <p:nvSpPr>
          <p:cNvPr id="17" name="Shape 12"/>
          <p:cNvSpPr/>
          <p:nvPr/>
        </p:nvSpPr>
        <p:spPr>
          <a:xfrm>
            <a:off x="812800" y="3897602"/>
            <a:ext cx="3386643" cy="1944399"/>
          </a:xfrm>
          <a:prstGeom prst="rect">
            <a:avLst/>
          </a:prstGeom>
          <a:solidFill>
            <a:srgbClr val="F6F6F2"/>
          </a:solidFill>
          <a:ln/>
        </p:spPr>
        <p:txBody>
          <a:bodyPr/>
          <a:lstStyle/>
          <a:p>
            <a:endParaRPr lang="es-CO"/>
          </a:p>
        </p:txBody>
      </p:sp>
      <p:sp>
        <p:nvSpPr>
          <p:cNvPr id="18" name="Shape 13"/>
          <p:cNvSpPr/>
          <p:nvPr/>
        </p:nvSpPr>
        <p:spPr>
          <a:xfrm>
            <a:off x="850900" y="3897602"/>
            <a:ext cx="0" cy="1944399"/>
          </a:xfrm>
          <a:prstGeom prst="line">
            <a:avLst/>
          </a:prstGeom>
          <a:noFill/>
          <a:ln w="76200">
            <a:solidFill>
              <a:srgbClr val="7BA654"/>
            </a:solidFill>
            <a:prstDash val="solid"/>
          </a:ln>
        </p:spPr>
        <p:txBody>
          <a:bodyPr/>
          <a:lstStyle/>
          <a:p>
            <a:endParaRPr lang="es-CO"/>
          </a:p>
        </p:txBody>
      </p:sp>
      <p:pic>
        <p:nvPicPr>
          <p:cNvPr id="19" name="Image 3" descr="Chart"/>
          <p:cNvPicPr>
            <a:picLocks noChangeAspect="1"/>
          </p:cNvPicPr>
          <p:nvPr/>
        </p:nvPicPr>
        <p:blipFill>
          <a:blip r:embed="rId6"/>
          <a:srcRect/>
          <a:stretch/>
        </p:blipFill>
        <p:spPr>
          <a:xfrm>
            <a:off x="1089891" y="4666601"/>
            <a:ext cx="406400" cy="406400"/>
          </a:xfrm>
          <a:prstGeom prst="rect">
            <a:avLst/>
          </a:prstGeom>
        </p:spPr>
      </p:pic>
      <p:sp>
        <p:nvSpPr>
          <p:cNvPr id="20" name="Text 14"/>
          <p:cNvSpPr/>
          <p:nvPr/>
        </p:nvSpPr>
        <p:spPr>
          <a:xfrm>
            <a:off x="1674091" y="4732627"/>
            <a:ext cx="1794683"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4. Resultados</a:t>
            </a:r>
            <a:endParaRPr lang="en-US" sz="1800" dirty="0"/>
          </a:p>
        </p:txBody>
      </p:sp>
      <p:sp>
        <p:nvSpPr>
          <p:cNvPr id="21" name="Shape 15"/>
          <p:cNvSpPr/>
          <p:nvPr/>
        </p:nvSpPr>
        <p:spPr>
          <a:xfrm>
            <a:off x="4402643" y="3897602"/>
            <a:ext cx="3386643" cy="1944399"/>
          </a:xfrm>
          <a:prstGeom prst="rect">
            <a:avLst/>
          </a:prstGeom>
          <a:solidFill>
            <a:srgbClr val="F6F6F2"/>
          </a:solidFill>
          <a:ln/>
        </p:spPr>
        <p:txBody>
          <a:bodyPr/>
          <a:lstStyle/>
          <a:p>
            <a:endParaRPr lang="es-CO"/>
          </a:p>
        </p:txBody>
      </p:sp>
      <p:sp>
        <p:nvSpPr>
          <p:cNvPr id="22" name="Shape 16"/>
          <p:cNvSpPr/>
          <p:nvPr/>
        </p:nvSpPr>
        <p:spPr>
          <a:xfrm>
            <a:off x="4440743" y="3897602"/>
            <a:ext cx="0" cy="1944399"/>
          </a:xfrm>
          <a:prstGeom prst="line">
            <a:avLst/>
          </a:prstGeom>
          <a:noFill/>
          <a:ln w="76200">
            <a:solidFill>
              <a:srgbClr val="F5D04C"/>
            </a:solidFill>
            <a:prstDash val="solid"/>
          </a:ln>
        </p:spPr>
        <p:txBody>
          <a:bodyPr/>
          <a:lstStyle/>
          <a:p>
            <a:endParaRPr lang="es-CO"/>
          </a:p>
        </p:txBody>
      </p:sp>
      <p:pic>
        <p:nvPicPr>
          <p:cNvPr id="23" name="Image 4" descr="CheckCircle"/>
          <p:cNvPicPr>
            <a:picLocks noChangeAspect="1"/>
          </p:cNvPicPr>
          <p:nvPr/>
        </p:nvPicPr>
        <p:blipFill>
          <a:blip r:embed="rId7"/>
          <a:srcRect l="-116" r="-116"/>
          <a:stretch/>
        </p:blipFill>
        <p:spPr>
          <a:xfrm>
            <a:off x="4679734" y="4666601"/>
            <a:ext cx="311872" cy="406400"/>
          </a:xfrm>
          <a:prstGeom prst="rect">
            <a:avLst/>
          </a:prstGeom>
        </p:spPr>
      </p:pic>
      <p:sp>
        <p:nvSpPr>
          <p:cNvPr id="24" name="Text 17"/>
          <p:cNvSpPr/>
          <p:nvPr/>
        </p:nvSpPr>
        <p:spPr>
          <a:xfrm>
            <a:off x="5169405" y="4595524"/>
            <a:ext cx="2489181" cy="57395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5. Conclusiones preliminares</a:t>
            </a:r>
            <a:endParaRPr lang="en-US" sz="1800" dirty="0"/>
          </a:p>
        </p:txBody>
      </p:sp>
      <p:sp>
        <p:nvSpPr>
          <p:cNvPr id="25" name="Shape 18"/>
          <p:cNvSpPr/>
          <p:nvPr/>
        </p:nvSpPr>
        <p:spPr>
          <a:xfrm>
            <a:off x="7992486" y="3897602"/>
            <a:ext cx="3386643" cy="1944399"/>
          </a:xfrm>
          <a:prstGeom prst="rect">
            <a:avLst/>
          </a:prstGeom>
          <a:solidFill>
            <a:srgbClr val="F6F6F2"/>
          </a:solidFill>
          <a:ln/>
        </p:spPr>
        <p:txBody>
          <a:bodyPr/>
          <a:lstStyle/>
          <a:p>
            <a:endParaRPr lang="es-CO"/>
          </a:p>
        </p:txBody>
      </p:sp>
      <p:sp>
        <p:nvSpPr>
          <p:cNvPr id="26" name="Shape 19"/>
          <p:cNvSpPr/>
          <p:nvPr/>
        </p:nvSpPr>
        <p:spPr>
          <a:xfrm>
            <a:off x="8030586" y="3897602"/>
            <a:ext cx="0" cy="1944399"/>
          </a:xfrm>
          <a:prstGeom prst="line">
            <a:avLst/>
          </a:prstGeom>
          <a:noFill/>
          <a:ln w="76200">
            <a:solidFill>
              <a:srgbClr val="F5D04C"/>
            </a:solidFill>
            <a:prstDash val="solid"/>
          </a:ln>
        </p:spPr>
        <p:txBody>
          <a:bodyPr/>
          <a:lstStyle/>
          <a:p>
            <a:endParaRPr lang="es-CO"/>
          </a:p>
        </p:txBody>
      </p:sp>
      <p:pic>
        <p:nvPicPr>
          <p:cNvPr id="27" name="Image 5" descr="Clock"/>
          <p:cNvPicPr>
            <a:picLocks noChangeAspect="1"/>
          </p:cNvPicPr>
          <p:nvPr/>
        </p:nvPicPr>
        <p:blipFill>
          <a:blip r:embed="rId8"/>
          <a:srcRect/>
          <a:stretch/>
        </p:blipFill>
        <p:spPr>
          <a:xfrm>
            <a:off x="8269577" y="4666601"/>
            <a:ext cx="406400" cy="406400"/>
          </a:xfrm>
          <a:prstGeom prst="rect">
            <a:avLst/>
          </a:prstGeom>
        </p:spPr>
      </p:pic>
      <p:sp>
        <p:nvSpPr>
          <p:cNvPr id="28" name="Text 20"/>
          <p:cNvSpPr/>
          <p:nvPr/>
        </p:nvSpPr>
        <p:spPr>
          <a:xfrm>
            <a:off x="8853777" y="4732627"/>
            <a:ext cx="1964055"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6. Cronograma</a:t>
            </a:r>
            <a:endParaRPr lang="en-US" sz="1800" dirty="0"/>
          </a:p>
        </p:txBody>
      </p:sp>
      <p:sp>
        <p:nvSpPr>
          <p:cNvPr id="29" name="Text 21"/>
          <p:cNvSpPr/>
          <p:nvPr/>
        </p:nvSpPr>
        <p:spPr>
          <a:xfrm>
            <a:off x="11237047" y="6289098"/>
            <a:ext cx="142153"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El periodo permite clasificar las estrellas variables y estimar sus </a:t>
            </a:r>
            <a:r>
              <a:rPr lang="en-US" sz="2600" b="0" i="0" dirty="0" err="1">
                <a:solidFill>
                  <a:srgbClr val="141412"/>
                </a:solidFill>
                <a:latin typeface="Archivo Black" pitchFamily="34" charset="0"/>
                <a:ea typeface="Archivo Black" pitchFamily="34" charset="-122"/>
                <a:cs typeface="Archivo Black" pitchFamily="34" charset="-120"/>
              </a:rPr>
              <a:t>distancias</a:t>
            </a:r>
            <a:endParaRPr lang="en-US" sz="2600" dirty="0"/>
          </a:p>
        </p:txBody>
      </p:sp>
      <p:sp>
        <p:nvSpPr>
          <p:cNvPr id="4" name="Shape 2"/>
          <p:cNvSpPr/>
          <p:nvPr/>
        </p:nvSpPr>
        <p:spPr>
          <a:xfrm>
            <a:off x="812800" y="1521403"/>
            <a:ext cx="1524000" cy="76200"/>
          </a:xfrm>
          <a:prstGeom prst="rect">
            <a:avLst/>
          </a:prstGeom>
          <a:solidFill>
            <a:srgbClr val="5E7E3E"/>
          </a:solidFill>
          <a:ln/>
        </p:spPr>
        <p:txBody>
          <a:bodyPr/>
          <a:lstStyle/>
          <a:p>
            <a:endParaRPr lang="es-CO"/>
          </a:p>
        </p:txBody>
      </p:sp>
      <p:pic>
        <p:nvPicPr>
          <p:cNvPr id="5" name="Image 0" descr="Curva de luz plegada en fase de la Cefeida clásica OGLE-LMC-CEP-2491"/>
          <p:cNvPicPr>
            <a:picLocks noChangeAspect="1"/>
          </p:cNvPicPr>
          <p:nvPr/>
        </p:nvPicPr>
        <p:blipFill>
          <a:blip r:embed="rId3"/>
          <a:srcRect t="-12" b="-12"/>
          <a:stretch/>
        </p:blipFill>
        <p:spPr>
          <a:xfrm>
            <a:off x="838200" y="2282825"/>
            <a:ext cx="3302000" cy="1809750"/>
          </a:xfrm>
          <a:prstGeom prst="rect">
            <a:avLst/>
          </a:prstGeom>
        </p:spPr>
      </p:pic>
      <p:sp>
        <p:nvSpPr>
          <p:cNvPr id="6" name="Text 3"/>
          <p:cNvSpPr/>
          <p:nvPr/>
        </p:nvSpPr>
        <p:spPr>
          <a:xfrm>
            <a:off x="1555057" y="4168775"/>
            <a:ext cx="1868285" cy="284451"/>
          </a:xfrm>
          <a:prstGeom prst="rect">
            <a:avLst/>
          </a:prstGeom>
          <a:noFill/>
          <a:ln/>
        </p:spPr>
        <p:txBody>
          <a:bodyPr wrap="square" lIns="0" tIns="0" rIns="0" bIns="0" rtlCol="0" anchor="t">
            <a:normAutofit/>
          </a:bodyPr>
          <a:lstStyle/>
          <a:p>
            <a:pPr marL="0" indent="0" algn="ctr">
              <a:lnSpc>
                <a:spcPts val="2040"/>
              </a:lnSpc>
              <a:buNone/>
            </a:pPr>
            <a:r>
              <a:rPr lang="en-US" sz="1700" b="1" dirty="0">
                <a:solidFill>
                  <a:srgbClr val="141412"/>
                </a:solidFill>
                <a:latin typeface="Libre Franklin" pitchFamily="34" charset="0"/>
                <a:ea typeface="Libre Franklin" pitchFamily="34" charset="-122"/>
                <a:cs typeface="Libre Franklin" pitchFamily="34" charset="-120"/>
              </a:rPr>
              <a:t>Cefeida clásica</a:t>
            </a:r>
            <a:endParaRPr lang="en-US" sz="1700" dirty="0"/>
          </a:p>
        </p:txBody>
      </p:sp>
      <p:sp>
        <p:nvSpPr>
          <p:cNvPr id="7" name="Text 4"/>
          <p:cNvSpPr/>
          <p:nvPr/>
        </p:nvSpPr>
        <p:spPr>
          <a:xfrm>
            <a:off x="1867997" y="4504027"/>
            <a:ext cx="1242406" cy="27427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4A45"/>
                </a:solidFill>
                <a:latin typeface="Libre Franklin" pitchFamily="34" charset="0"/>
                <a:ea typeface="Libre Franklin" pitchFamily="34" charset="-122"/>
                <a:cs typeface="Libre Franklin" pitchFamily="34" charset="-120"/>
              </a:rPr>
              <a:t>P = 1.0659 d</a:t>
            </a:r>
            <a:endParaRPr lang="en-US" sz="1400" dirty="0"/>
          </a:p>
        </p:txBody>
      </p:sp>
      <p:pic>
        <p:nvPicPr>
          <p:cNvPr id="8" name="Image 1" descr="Curva de luz plegada en fase de la RR Lyrae OGLE-BLG-RRLYR-09643"/>
          <p:cNvPicPr>
            <a:picLocks noChangeAspect="1"/>
          </p:cNvPicPr>
          <p:nvPr/>
        </p:nvPicPr>
        <p:blipFill>
          <a:blip r:embed="rId4"/>
          <a:srcRect t="-12" b="-12"/>
          <a:stretch/>
        </p:blipFill>
        <p:spPr>
          <a:xfrm>
            <a:off x="4445000" y="2282825"/>
            <a:ext cx="3302000" cy="1809750"/>
          </a:xfrm>
          <a:prstGeom prst="rect">
            <a:avLst/>
          </a:prstGeom>
        </p:spPr>
      </p:pic>
      <p:sp>
        <p:nvSpPr>
          <p:cNvPr id="9" name="Text 5"/>
          <p:cNvSpPr/>
          <p:nvPr/>
        </p:nvSpPr>
        <p:spPr>
          <a:xfrm>
            <a:off x="5530482" y="4168775"/>
            <a:ext cx="1130964" cy="284451"/>
          </a:xfrm>
          <a:prstGeom prst="rect">
            <a:avLst/>
          </a:prstGeom>
          <a:noFill/>
          <a:ln/>
        </p:spPr>
        <p:txBody>
          <a:bodyPr wrap="square" lIns="0" tIns="0" rIns="0" bIns="0" rtlCol="0" anchor="t">
            <a:normAutofit/>
          </a:bodyPr>
          <a:lstStyle/>
          <a:p>
            <a:pPr marL="0" indent="0" algn="ctr">
              <a:lnSpc>
                <a:spcPts val="2040"/>
              </a:lnSpc>
              <a:buNone/>
            </a:pPr>
            <a:r>
              <a:rPr lang="en-US" sz="1700" b="1" dirty="0">
                <a:solidFill>
                  <a:srgbClr val="141412"/>
                </a:solidFill>
                <a:latin typeface="Libre Franklin" pitchFamily="34" charset="0"/>
                <a:ea typeface="Libre Franklin" pitchFamily="34" charset="-122"/>
                <a:cs typeface="Libre Franklin" pitchFamily="34" charset="-120"/>
              </a:rPr>
              <a:t>RR Lyrae</a:t>
            </a:r>
            <a:endParaRPr lang="en-US" sz="1700" dirty="0"/>
          </a:p>
        </p:txBody>
      </p:sp>
      <p:sp>
        <p:nvSpPr>
          <p:cNvPr id="10" name="Text 6"/>
          <p:cNvSpPr/>
          <p:nvPr/>
        </p:nvSpPr>
        <p:spPr>
          <a:xfrm>
            <a:off x="5453755" y="4504027"/>
            <a:ext cx="1284490" cy="27427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4A45"/>
                </a:solidFill>
                <a:latin typeface="Libre Franklin" pitchFamily="34" charset="0"/>
                <a:ea typeface="Libre Franklin" pitchFamily="34" charset="-122"/>
                <a:cs typeface="Libre Franklin" pitchFamily="34" charset="-120"/>
              </a:rPr>
              <a:t>P = 0.3898 d</a:t>
            </a:r>
            <a:endParaRPr lang="en-US" sz="1400" dirty="0"/>
          </a:p>
        </p:txBody>
      </p:sp>
      <p:pic>
        <p:nvPicPr>
          <p:cNvPr id="11" name="Image 2" descr="Curva de luz plegada en fase de la binaria eclipsante OGLE-LMC-ECL-08181"/>
          <p:cNvPicPr>
            <a:picLocks noChangeAspect="1"/>
          </p:cNvPicPr>
          <p:nvPr/>
        </p:nvPicPr>
        <p:blipFill>
          <a:blip r:embed="rId5"/>
          <a:srcRect t="-12" b="-12"/>
          <a:stretch/>
        </p:blipFill>
        <p:spPr>
          <a:xfrm>
            <a:off x="8051800" y="2282825"/>
            <a:ext cx="3302000" cy="1809750"/>
          </a:xfrm>
          <a:prstGeom prst="rect">
            <a:avLst/>
          </a:prstGeom>
        </p:spPr>
      </p:pic>
      <p:sp>
        <p:nvSpPr>
          <p:cNvPr id="12" name="Text 7"/>
          <p:cNvSpPr/>
          <p:nvPr/>
        </p:nvSpPr>
        <p:spPr>
          <a:xfrm>
            <a:off x="8594350" y="4168775"/>
            <a:ext cx="2216900" cy="284451"/>
          </a:xfrm>
          <a:prstGeom prst="rect">
            <a:avLst/>
          </a:prstGeom>
          <a:noFill/>
          <a:ln/>
        </p:spPr>
        <p:txBody>
          <a:bodyPr wrap="square" lIns="0" tIns="0" rIns="0" bIns="0" rtlCol="0" anchor="t">
            <a:normAutofit/>
          </a:bodyPr>
          <a:lstStyle/>
          <a:p>
            <a:pPr marL="0" indent="0" algn="ctr">
              <a:lnSpc>
                <a:spcPts val="2040"/>
              </a:lnSpc>
              <a:buNone/>
            </a:pPr>
            <a:r>
              <a:rPr lang="en-US" sz="1700" b="1" dirty="0">
                <a:solidFill>
                  <a:srgbClr val="141412"/>
                </a:solidFill>
                <a:latin typeface="Libre Franklin" pitchFamily="34" charset="0"/>
                <a:ea typeface="Libre Franklin" pitchFamily="34" charset="-122"/>
                <a:cs typeface="Libre Franklin" pitchFamily="34" charset="-120"/>
              </a:rPr>
              <a:t>Binaria eclipsante</a:t>
            </a:r>
            <a:endParaRPr lang="en-US" sz="1700" dirty="0"/>
          </a:p>
        </p:txBody>
      </p:sp>
      <p:sp>
        <p:nvSpPr>
          <p:cNvPr id="13" name="Text 8"/>
          <p:cNvSpPr/>
          <p:nvPr/>
        </p:nvSpPr>
        <p:spPr>
          <a:xfrm>
            <a:off x="9071119" y="4504027"/>
            <a:ext cx="1263361" cy="27427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4A45"/>
                </a:solidFill>
                <a:latin typeface="Libre Franklin" pitchFamily="34" charset="0"/>
                <a:ea typeface="Libre Franklin" pitchFamily="34" charset="-122"/>
                <a:cs typeface="Libre Franklin" pitchFamily="34" charset="-120"/>
              </a:rPr>
              <a:t>P = 58.574 d</a:t>
            </a:r>
            <a:endParaRPr lang="en-US" sz="1400" dirty="0"/>
          </a:p>
        </p:txBody>
      </p:sp>
      <p:sp>
        <p:nvSpPr>
          <p:cNvPr id="14" name="Text 9"/>
          <p:cNvSpPr/>
          <p:nvPr/>
        </p:nvSpPr>
        <p:spPr>
          <a:xfrm>
            <a:off x="654304" y="5006904"/>
            <a:ext cx="10883392" cy="327602"/>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2E2E2A"/>
                </a:solidFill>
                <a:latin typeface="Libre Franklin" pitchFamily="34" charset="0"/>
                <a:ea typeface="Libre Franklin" pitchFamily="34" charset="-122"/>
                <a:cs typeface="Libre Franklin" pitchFamily="34" charset="-120"/>
              </a:rPr>
              <a:t>Del periodo dependen el cálculo de masas, radios y luminosidades, y la clasificación de la variabilidad.</a:t>
            </a:r>
            <a:endParaRPr lang="en-US" sz="1700" dirty="0"/>
          </a:p>
        </p:txBody>
      </p:sp>
      <p:pic>
        <p:nvPicPr>
          <p:cNvPr id="15" name="Image 3" descr="Book"/>
          <p:cNvPicPr>
            <a:picLocks noChangeAspect="1"/>
          </p:cNvPicPr>
          <p:nvPr/>
        </p:nvPicPr>
        <p:blipFill>
          <a:blip r:embed="rId6"/>
          <a:srcRect/>
          <a:stretch/>
        </p:blipFill>
        <p:spPr>
          <a:xfrm>
            <a:off x="812800" y="6285202"/>
            <a:ext cx="203200" cy="203200"/>
          </a:xfrm>
          <a:prstGeom prst="rect">
            <a:avLst/>
          </a:prstGeom>
        </p:spPr>
      </p:pic>
      <p:sp>
        <p:nvSpPr>
          <p:cNvPr id="16" name="Text 10"/>
          <p:cNvSpPr/>
          <p:nvPr/>
        </p:nvSpPr>
        <p:spPr>
          <a:xfrm>
            <a:off x="1092200" y="6280150"/>
            <a:ext cx="1369363"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 · Estado del arte ·</a:t>
            </a:r>
            <a:endParaRPr lang="en-US" sz="1200" dirty="0"/>
          </a:p>
        </p:txBody>
      </p:sp>
      <p:sp>
        <p:nvSpPr>
          <p:cNvPr id="17" name="Text 11"/>
          <p:cNvSpPr/>
          <p:nvPr/>
        </p:nvSpPr>
        <p:spPr>
          <a:xfrm>
            <a:off x="2461563" y="6271275"/>
            <a:ext cx="3580015"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2E2A"/>
                </a:solidFill>
                <a:latin typeface="Libre Franklin" pitchFamily="34" charset="0"/>
                <a:ea typeface="Libre Franklin" pitchFamily="34" charset="-122"/>
                <a:cs typeface="Libre Franklin" pitchFamily="34" charset="-120"/>
              </a:rPr>
              <a:t>Soszyński (2024); curvas: OGLE Atlas</a:t>
            </a:r>
            <a:endParaRPr lang="en-US" sz="1300" dirty="0"/>
          </a:p>
        </p:txBody>
      </p:sp>
      <p:sp>
        <p:nvSpPr>
          <p:cNvPr id="18" name="Text 12"/>
          <p:cNvSpPr/>
          <p:nvPr/>
        </p:nvSpPr>
        <p:spPr>
          <a:xfrm>
            <a:off x="11230697" y="6280150"/>
            <a:ext cx="148503"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Lomb–Scargle ajusta una sinusoide; la mínima entropía mide el orden del plegado</a:t>
            </a:r>
            <a:endParaRPr lang="en-US" sz="2600" dirty="0"/>
          </a:p>
        </p:txBody>
      </p:sp>
      <p:sp>
        <p:nvSpPr>
          <p:cNvPr id="4" name="Shape 2"/>
          <p:cNvSpPr/>
          <p:nvPr/>
        </p:nvSpPr>
        <p:spPr>
          <a:xfrm>
            <a:off x="812800" y="1521403"/>
            <a:ext cx="1524000" cy="76200"/>
          </a:xfrm>
          <a:prstGeom prst="rect">
            <a:avLst/>
          </a:prstGeom>
          <a:solidFill>
            <a:srgbClr val="5E7E3E"/>
          </a:solidFill>
          <a:ln/>
        </p:spPr>
        <p:txBody>
          <a:bodyPr/>
          <a:lstStyle/>
          <a:p>
            <a:endParaRPr lang="es-CO"/>
          </a:p>
        </p:txBody>
      </p:sp>
      <p:sp>
        <p:nvSpPr>
          <p:cNvPr id="5" name="Text 3"/>
          <p:cNvSpPr/>
          <p:nvPr/>
        </p:nvSpPr>
        <p:spPr>
          <a:xfrm>
            <a:off x="812800" y="1750003"/>
            <a:ext cx="5232400"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Periodograma de Lomb–Scargle</a:t>
            </a:r>
            <a:endParaRPr lang="en-US" sz="1800" dirty="0"/>
          </a:p>
        </p:txBody>
      </p:sp>
      <p:pic>
        <p:nvPicPr>
          <p:cNvPr id="6" name="Image 0" descr="Esquema: magnitud normalizada frente a fase de una curva plegada, con un ajuste sinusoidal superpuesto"/>
          <p:cNvPicPr>
            <a:picLocks noChangeAspect="1"/>
          </p:cNvPicPr>
          <p:nvPr/>
        </p:nvPicPr>
        <p:blipFill>
          <a:blip r:embed="rId3"/>
          <a:srcRect l="-11" r="-11"/>
          <a:stretch/>
        </p:blipFill>
        <p:spPr>
          <a:xfrm>
            <a:off x="812800" y="2125880"/>
            <a:ext cx="4699000" cy="2698750"/>
          </a:xfrm>
          <a:prstGeom prst="rect">
            <a:avLst/>
          </a:prstGeom>
        </p:spPr>
      </p:pic>
      <p:sp>
        <p:nvSpPr>
          <p:cNvPr id="7" name="Text 4"/>
          <p:cNvSpPr/>
          <p:nvPr/>
        </p:nvSpPr>
        <p:spPr>
          <a:xfrm>
            <a:off x="812800" y="4926230"/>
            <a:ext cx="5232400"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E2E2A"/>
                </a:solidFill>
                <a:latin typeface="Libre Franklin" pitchFamily="34" charset="0"/>
                <a:ea typeface="Libre Franklin" pitchFamily="34" charset="-122"/>
                <a:cs typeface="Libre Franklin" pitchFamily="34" charset="-120"/>
              </a:rPr>
              <a:t>Puntúa cada frecuencia por la varianza que explica una sinusoide. Es eficiente, pero sensible a curvas no sinusoidales.</a:t>
            </a:r>
            <a:endParaRPr lang="en-US" sz="1500" dirty="0"/>
          </a:p>
        </p:txBody>
      </p:sp>
      <p:sp>
        <p:nvSpPr>
          <p:cNvPr id="8" name="Text 5"/>
          <p:cNvSpPr/>
          <p:nvPr/>
        </p:nvSpPr>
        <p:spPr>
          <a:xfrm>
            <a:off x="812800" y="5799355"/>
            <a:ext cx="5232400" cy="27427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E2E2A"/>
                </a:solidFill>
                <a:latin typeface="Libre Franklin" pitchFamily="34" charset="0"/>
                <a:ea typeface="Libre Franklin" pitchFamily="34" charset="-122"/>
                <a:cs typeface="Libre Franklin" pitchFamily="34" charset="-120"/>
              </a:rPr>
              <a:t>Lomb (1976); Scargle (1982)</a:t>
            </a:r>
            <a:endParaRPr lang="en-US" sz="1400" dirty="0"/>
          </a:p>
        </p:txBody>
      </p:sp>
      <p:sp>
        <p:nvSpPr>
          <p:cNvPr id="9" name="Text 6"/>
          <p:cNvSpPr/>
          <p:nvPr/>
        </p:nvSpPr>
        <p:spPr>
          <a:xfrm>
            <a:off x="6299200" y="1750003"/>
            <a:ext cx="5232400"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412"/>
                </a:solidFill>
                <a:latin typeface="Libre Franklin" pitchFamily="34" charset="0"/>
                <a:ea typeface="Libre Franklin" pitchFamily="34" charset="-122"/>
                <a:cs typeface="Libre Franklin" pitchFamily="34" charset="-120"/>
              </a:rPr>
              <a:t>Método de mínima entropía</a:t>
            </a:r>
            <a:endParaRPr lang="en-US" sz="1800" dirty="0"/>
          </a:p>
        </p:txBody>
      </p:sp>
      <p:pic>
        <p:nvPicPr>
          <p:cNvPr id="10" name="Image 1" descr="Esquema: la misma curva plegada sobre una grilla de 7 por 7 en fase y magnitud normalizada, con las celdas ocupadas sombreadas"/>
          <p:cNvPicPr>
            <a:picLocks noChangeAspect="1"/>
          </p:cNvPicPr>
          <p:nvPr/>
        </p:nvPicPr>
        <p:blipFill>
          <a:blip r:embed="rId4"/>
          <a:srcRect l="-1022" r="-1022"/>
          <a:stretch/>
        </p:blipFill>
        <p:spPr>
          <a:xfrm>
            <a:off x="6299200" y="2125880"/>
            <a:ext cx="4699000" cy="2698750"/>
          </a:xfrm>
          <a:prstGeom prst="rect">
            <a:avLst/>
          </a:prstGeom>
        </p:spPr>
      </p:pic>
      <p:sp>
        <p:nvSpPr>
          <p:cNvPr id="11" name="Text 7"/>
          <p:cNvSpPr/>
          <p:nvPr/>
        </p:nvSpPr>
        <p:spPr>
          <a:xfrm>
            <a:off x="6299200" y="4926230"/>
            <a:ext cx="523240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E2E2A"/>
                </a:solidFill>
                <a:latin typeface="Libre Franklin" pitchFamily="34" charset="0"/>
                <a:ea typeface="Libre Franklin" pitchFamily="34" charset="-122"/>
                <a:cs typeface="Libre Franklin" pitchFamily="34" charset="-120"/>
              </a:rPr>
              <a:t>Cuenta la ocupación de una grilla L×K de fase y magnitud, S = −Σ μ ln μ. No asume forma funcional.</a:t>
            </a:r>
            <a:endParaRPr lang="en-US" sz="1500" dirty="0"/>
          </a:p>
        </p:txBody>
      </p:sp>
      <p:sp>
        <p:nvSpPr>
          <p:cNvPr id="12" name="Text 8"/>
          <p:cNvSpPr/>
          <p:nvPr/>
        </p:nvSpPr>
        <p:spPr>
          <a:xfrm>
            <a:off x="6299200" y="5542180"/>
            <a:ext cx="5232400" cy="27427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E2E2A"/>
                </a:solidFill>
                <a:latin typeface="Libre Franklin" pitchFamily="34" charset="0"/>
                <a:ea typeface="Libre Franklin" pitchFamily="34" charset="-122"/>
                <a:cs typeface="Libre Franklin" pitchFamily="34" charset="-120"/>
              </a:rPr>
              <a:t>Cincotta et al. (1995)</a:t>
            </a:r>
            <a:endParaRPr lang="en-US" sz="1400" dirty="0"/>
          </a:p>
        </p:txBody>
      </p:sp>
      <p:pic>
        <p:nvPicPr>
          <p:cNvPr id="13" name="Image 2" descr="Book"/>
          <p:cNvPicPr>
            <a:picLocks noChangeAspect="1"/>
          </p:cNvPicPr>
          <p:nvPr/>
        </p:nvPicPr>
        <p:blipFill>
          <a:blip r:embed="rId5"/>
          <a:srcRect/>
          <a:stretch/>
        </p:blipFill>
        <p:spPr>
          <a:xfrm>
            <a:off x="812800" y="6294149"/>
            <a:ext cx="203200" cy="203200"/>
          </a:xfrm>
          <a:prstGeom prst="rect">
            <a:avLst/>
          </a:prstGeom>
        </p:spPr>
      </p:pic>
      <p:sp>
        <p:nvSpPr>
          <p:cNvPr id="14" name="Text 9"/>
          <p:cNvSpPr/>
          <p:nvPr/>
        </p:nvSpPr>
        <p:spPr>
          <a:xfrm>
            <a:off x="1092200" y="6289098"/>
            <a:ext cx="1475942"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 · Estado del arte</a:t>
            </a:r>
            <a:endParaRPr lang="en-US" sz="1200" dirty="0"/>
          </a:p>
        </p:txBody>
      </p:sp>
      <p:sp>
        <p:nvSpPr>
          <p:cNvPr id="15" name="Text 10"/>
          <p:cNvSpPr/>
          <p:nvPr/>
        </p:nvSpPr>
        <p:spPr>
          <a:xfrm>
            <a:off x="11229470" y="6289098"/>
            <a:ext cx="14973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Las comparaciones previas coinciden: los armónicos y los alias siguen sin resolverse</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sp>
        <p:nvSpPr>
          <p:cNvPr id="5" name="Shape 3"/>
          <p:cNvSpPr/>
          <p:nvPr/>
        </p:nvSpPr>
        <p:spPr>
          <a:xfrm>
            <a:off x="812800" y="1750002"/>
            <a:ext cx="5194300" cy="1957099"/>
          </a:xfrm>
          <a:prstGeom prst="rect">
            <a:avLst/>
          </a:prstGeom>
          <a:solidFill>
            <a:srgbClr val="F6F6F2"/>
          </a:solidFill>
          <a:ln/>
        </p:spPr>
        <p:txBody>
          <a:bodyPr/>
          <a:lstStyle/>
          <a:p>
            <a:endParaRPr lang="es-CO"/>
          </a:p>
        </p:txBody>
      </p:sp>
      <p:sp>
        <p:nvSpPr>
          <p:cNvPr id="6" name="Shape 4"/>
          <p:cNvSpPr/>
          <p:nvPr/>
        </p:nvSpPr>
        <p:spPr>
          <a:xfrm>
            <a:off x="812800" y="1775402"/>
            <a:ext cx="5194300" cy="0"/>
          </a:xfrm>
          <a:prstGeom prst="line">
            <a:avLst/>
          </a:prstGeom>
          <a:noFill/>
          <a:ln w="50800">
            <a:solidFill>
              <a:srgbClr val="4596A4"/>
            </a:solidFill>
            <a:prstDash val="solid"/>
          </a:ln>
        </p:spPr>
        <p:txBody>
          <a:bodyPr/>
          <a:lstStyle/>
          <a:p>
            <a:endParaRPr lang="es-CO"/>
          </a:p>
        </p:txBody>
      </p:sp>
      <p:sp>
        <p:nvSpPr>
          <p:cNvPr id="7" name="Text 5"/>
          <p:cNvSpPr/>
          <p:nvPr/>
        </p:nvSpPr>
        <p:spPr>
          <a:xfrm>
            <a:off x="1016000" y="1978602"/>
            <a:ext cx="4931537"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412"/>
                </a:solidFill>
                <a:latin typeface="Libre Franklin" pitchFamily="34" charset="0"/>
                <a:ea typeface="Libre Franklin" pitchFamily="34" charset="-122"/>
                <a:cs typeface="Libre Franklin" pitchFamily="34" charset="-120"/>
              </a:rPr>
              <a:t>Graham et al. (2013)</a:t>
            </a:r>
            <a:endParaRPr lang="en-US" sz="1600" dirty="0"/>
          </a:p>
        </p:txBody>
      </p:sp>
      <p:sp>
        <p:nvSpPr>
          <p:cNvPr id="8" name="Text 6"/>
          <p:cNvSpPr/>
          <p:nvPr/>
        </p:nvSpPr>
        <p:spPr>
          <a:xfrm>
            <a:off x="1016000" y="2285929"/>
            <a:ext cx="4931537" cy="745403"/>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En CRTS, MACHO y ASAS, el análisis de varianza y la entropía condicional son los mejores; aliasing y armónicos siguen siendo problemas significativos.</a:t>
            </a:r>
            <a:endParaRPr lang="en-US" sz="1400" dirty="0"/>
          </a:p>
        </p:txBody>
      </p:sp>
      <p:sp>
        <p:nvSpPr>
          <p:cNvPr id="9" name="Shape 7"/>
          <p:cNvSpPr/>
          <p:nvPr/>
        </p:nvSpPr>
        <p:spPr>
          <a:xfrm>
            <a:off x="6184900" y="1750002"/>
            <a:ext cx="5194300" cy="1957099"/>
          </a:xfrm>
          <a:prstGeom prst="rect">
            <a:avLst/>
          </a:prstGeom>
          <a:solidFill>
            <a:srgbClr val="F6F6F2"/>
          </a:solidFill>
          <a:ln/>
        </p:spPr>
        <p:txBody>
          <a:bodyPr/>
          <a:lstStyle/>
          <a:p>
            <a:endParaRPr lang="es-CO"/>
          </a:p>
        </p:txBody>
      </p:sp>
      <p:sp>
        <p:nvSpPr>
          <p:cNvPr id="10" name="Shape 8"/>
          <p:cNvSpPr/>
          <p:nvPr/>
        </p:nvSpPr>
        <p:spPr>
          <a:xfrm>
            <a:off x="6184900" y="1775402"/>
            <a:ext cx="5194300" cy="0"/>
          </a:xfrm>
          <a:prstGeom prst="line">
            <a:avLst/>
          </a:prstGeom>
          <a:noFill/>
          <a:ln w="50800">
            <a:solidFill>
              <a:srgbClr val="4596A4"/>
            </a:solidFill>
            <a:prstDash val="solid"/>
          </a:ln>
        </p:spPr>
        <p:txBody>
          <a:bodyPr/>
          <a:lstStyle/>
          <a:p>
            <a:endParaRPr lang="es-CO"/>
          </a:p>
        </p:txBody>
      </p:sp>
      <p:sp>
        <p:nvSpPr>
          <p:cNvPr id="11" name="Text 9"/>
          <p:cNvSpPr/>
          <p:nvPr/>
        </p:nvSpPr>
        <p:spPr>
          <a:xfrm>
            <a:off x="6388100" y="1978602"/>
            <a:ext cx="4931537"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412"/>
                </a:solidFill>
                <a:latin typeface="Libre Franklin" pitchFamily="34" charset="0"/>
                <a:ea typeface="Libre Franklin" pitchFamily="34" charset="-122"/>
                <a:cs typeface="Libre Franklin" pitchFamily="34" charset="-120"/>
              </a:rPr>
              <a:t>Dubath et al. (2011)</a:t>
            </a:r>
            <a:endParaRPr lang="en-US" sz="1600" dirty="0"/>
          </a:p>
        </p:txBody>
      </p:sp>
      <p:sp>
        <p:nvSpPr>
          <p:cNvPr id="12" name="Text 10"/>
          <p:cNvSpPr/>
          <p:nvPr/>
        </p:nvSpPr>
        <p:spPr>
          <a:xfrm>
            <a:off x="6388100" y="2285929"/>
            <a:ext cx="4931537" cy="50540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En Hipparcos, Lomb–Scargle da la mitad del periodo en el 82% de las binarias eclipsantes; optan por duplicarlo.</a:t>
            </a:r>
            <a:endParaRPr lang="en-US" sz="1400" dirty="0"/>
          </a:p>
        </p:txBody>
      </p:sp>
      <p:sp>
        <p:nvSpPr>
          <p:cNvPr id="13" name="Shape 11"/>
          <p:cNvSpPr/>
          <p:nvPr/>
        </p:nvSpPr>
        <p:spPr>
          <a:xfrm>
            <a:off x="812800" y="3884901"/>
            <a:ext cx="5194300" cy="1957099"/>
          </a:xfrm>
          <a:prstGeom prst="rect">
            <a:avLst/>
          </a:prstGeom>
          <a:solidFill>
            <a:srgbClr val="F6F6F2"/>
          </a:solidFill>
          <a:ln/>
        </p:spPr>
        <p:txBody>
          <a:bodyPr/>
          <a:lstStyle/>
          <a:p>
            <a:endParaRPr lang="es-CO"/>
          </a:p>
        </p:txBody>
      </p:sp>
      <p:sp>
        <p:nvSpPr>
          <p:cNvPr id="14" name="Shape 12"/>
          <p:cNvSpPr/>
          <p:nvPr/>
        </p:nvSpPr>
        <p:spPr>
          <a:xfrm>
            <a:off x="812800" y="3910301"/>
            <a:ext cx="5194300" cy="0"/>
          </a:xfrm>
          <a:prstGeom prst="line">
            <a:avLst/>
          </a:prstGeom>
          <a:noFill/>
          <a:ln w="50800">
            <a:solidFill>
              <a:srgbClr val="4596A4"/>
            </a:solidFill>
            <a:prstDash val="solid"/>
          </a:ln>
        </p:spPr>
        <p:txBody>
          <a:bodyPr/>
          <a:lstStyle/>
          <a:p>
            <a:endParaRPr lang="es-CO"/>
          </a:p>
        </p:txBody>
      </p:sp>
      <p:sp>
        <p:nvSpPr>
          <p:cNvPr id="15" name="Text 13"/>
          <p:cNvSpPr/>
          <p:nvPr/>
        </p:nvSpPr>
        <p:spPr>
          <a:xfrm>
            <a:off x="1016000" y="4113501"/>
            <a:ext cx="4931537"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412"/>
                </a:solidFill>
                <a:latin typeface="Libre Franklin" pitchFamily="34" charset="0"/>
                <a:ea typeface="Libre Franklin" pitchFamily="34" charset="-122"/>
                <a:cs typeface="Libre Franklin" pitchFamily="34" charset="-120"/>
              </a:rPr>
              <a:t>Henao (2021)</a:t>
            </a:r>
            <a:endParaRPr lang="en-US" sz="1600" dirty="0"/>
          </a:p>
        </p:txBody>
      </p:sp>
      <p:sp>
        <p:nvSpPr>
          <p:cNvPr id="16" name="Text 14"/>
          <p:cNvSpPr/>
          <p:nvPr/>
        </p:nvSpPr>
        <p:spPr>
          <a:xfrm>
            <a:off x="1016000" y="4420828"/>
            <a:ext cx="4931537" cy="745403"/>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En Cefeidas de OGLE-IV, todos los periodogramas muestran picos falsos en la cadencia diaria; para la entropía no hay corrección sencilla.</a:t>
            </a:r>
            <a:endParaRPr lang="en-US" sz="1400" dirty="0"/>
          </a:p>
        </p:txBody>
      </p:sp>
      <p:sp>
        <p:nvSpPr>
          <p:cNvPr id="17" name="Shape 15"/>
          <p:cNvSpPr/>
          <p:nvPr/>
        </p:nvSpPr>
        <p:spPr>
          <a:xfrm>
            <a:off x="6184900" y="3884901"/>
            <a:ext cx="5194300" cy="1957099"/>
          </a:xfrm>
          <a:prstGeom prst="rect">
            <a:avLst/>
          </a:prstGeom>
          <a:solidFill>
            <a:srgbClr val="F6F6F2"/>
          </a:solidFill>
          <a:ln/>
        </p:spPr>
        <p:txBody>
          <a:bodyPr/>
          <a:lstStyle/>
          <a:p>
            <a:endParaRPr lang="es-CO"/>
          </a:p>
        </p:txBody>
      </p:sp>
      <p:sp>
        <p:nvSpPr>
          <p:cNvPr id="18" name="Shape 16"/>
          <p:cNvSpPr/>
          <p:nvPr/>
        </p:nvSpPr>
        <p:spPr>
          <a:xfrm>
            <a:off x="6184900" y="3910301"/>
            <a:ext cx="5194300" cy="0"/>
          </a:xfrm>
          <a:prstGeom prst="line">
            <a:avLst/>
          </a:prstGeom>
          <a:noFill/>
          <a:ln w="50800">
            <a:solidFill>
              <a:srgbClr val="4596A4"/>
            </a:solidFill>
            <a:prstDash val="solid"/>
          </a:ln>
        </p:spPr>
        <p:txBody>
          <a:bodyPr/>
          <a:lstStyle/>
          <a:p>
            <a:endParaRPr lang="es-CO"/>
          </a:p>
        </p:txBody>
      </p:sp>
      <p:sp>
        <p:nvSpPr>
          <p:cNvPr id="19" name="Text 17"/>
          <p:cNvSpPr/>
          <p:nvPr/>
        </p:nvSpPr>
        <p:spPr>
          <a:xfrm>
            <a:off x="6388100" y="4113501"/>
            <a:ext cx="4931537"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412"/>
                </a:solidFill>
                <a:latin typeface="Libre Franklin" pitchFamily="34" charset="0"/>
                <a:ea typeface="Libre Franklin" pitchFamily="34" charset="-122"/>
                <a:cs typeface="Libre Franklin" pitchFamily="34" charset="-120"/>
              </a:rPr>
              <a:t>Coughlin et al. (2021)</a:t>
            </a:r>
            <a:endParaRPr lang="en-US" sz="1600" dirty="0"/>
          </a:p>
        </p:txBody>
      </p:sp>
      <p:sp>
        <p:nvSpPr>
          <p:cNvPr id="20" name="Text 18"/>
          <p:cNvSpPr/>
          <p:nvPr/>
        </p:nvSpPr>
        <p:spPr>
          <a:xfrm>
            <a:off x="6388100" y="4420828"/>
            <a:ext cx="4931537" cy="745403"/>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En ZTF, Lomb–Scargle y la entropía condicional proponen candidatos y un análisis de varianza decide: un precedente de combinación.</a:t>
            </a:r>
            <a:endParaRPr lang="en-US" sz="1400" dirty="0"/>
          </a:p>
        </p:txBody>
      </p:sp>
      <p:pic>
        <p:nvPicPr>
          <p:cNvPr id="21" name="Image 0" descr="Book"/>
          <p:cNvPicPr>
            <a:picLocks noChangeAspect="1"/>
          </p:cNvPicPr>
          <p:nvPr/>
        </p:nvPicPr>
        <p:blipFill>
          <a:blip r:embed="rId3"/>
          <a:srcRect/>
          <a:stretch/>
        </p:blipFill>
        <p:spPr>
          <a:xfrm>
            <a:off x="812800" y="6294149"/>
            <a:ext cx="203200" cy="203200"/>
          </a:xfrm>
          <a:prstGeom prst="rect">
            <a:avLst/>
          </a:prstGeom>
        </p:spPr>
      </p:pic>
      <p:sp>
        <p:nvSpPr>
          <p:cNvPr id="22" name="Text 19"/>
          <p:cNvSpPr/>
          <p:nvPr/>
        </p:nvSpPr>
        <p:spPr>
          <a:xfrm>
            <a:off x="1092200" y="6289098"/>
            <a:ext cx="1475942"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 · Estado del arte</a:t>
            </a:r>
            <a:endParaRPr lang="en-US" sz="1200" dirty="0"/>
          </a:p>
        </p:txBody>
      </p:sp>
      <p:sp>
        <p:nvSpPr>
          <p:cNvPr id="23" name="Text 20"/>
          <p:cNvSpPr/>
          <p:nvPr/>
        </p:nvSpPr>
        <p:spPr>
          <a:xfrm>
            <a:off x="11228677" y="6289098"/>
            <a:ext cx="150524"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Las debilidades de ambos métodos son complementarias, lo que motiva combinarlos</a:t>
            </a:r>
            <a:endParaRPr lang="en-US" sz="2600" dirty="0"/>
          </a:p>
        </p:txBody>
      </p:sp>
      <p:sp>
        <p:nvSpPr>
          <p:cNvPr id="4" name="Shape 2"/>
          <p:cNvSpPr/>
          <p:nvPr/>
        </p:nvSpPr>
        <p:spPr>
          <a:xfrm>
            <a:off x="812800" y="1521405"/>
            <a:ext cx="1524000" cy="76200"/>
          </a:xfrm>
          <a:prstGeom prst="rect">
            <a:avLst/>
          </a:prstGeom>
          <a:solidFill>
            <a:srgbClr val="5E7E3E"/>
          </a:solidFill>
          <a:ln/>
        </p:spPr>
        <p:txBody>
          <a:bodyPr/>
          <a:lstStyle/>
          <a:p>
            <a:endParaRPr lang="es-CO"/>
          </a:p>
        </p:txBody>
      </p:sp>
      <p:sp>
        <p:nvSpPr>
          <p:cNvPr id="5" name="Shape 3"/>
          <p:cNvSpPr/>
          <p:nvPr/>
        </p:nvSpPr>
        <p:spPr>
          <a:xfrm>
            <a:off x="812800" y="2279073"/>
            <a:ext cx="5181600" cy="1395629"/>
          </a:xfrm>
          <a:prstGeom prst="rect">
            <a:avLst/>
          </a:prstGeom>
          <a:solidFill>
            <a:srgbClr val="F6F6F2"/>
          </a:solidFill>
          <a:ln/>
        </p:spPr>
        <p:txBody>
          <a:bodyPr/>
          <a:lstStyle/>
          <a:p>
            <a:endParaRPr lang="es-CO"/>
          </a:p>
        </p:txBody>
      </p:sp>
      <p:sp>
        <p:nvSpPr>
          <p:cNvPr id="6" name="Shape 4"/>
          <p:cNvSpPr/>
          <p:nvPr/>
        </p:nvSpPr>
        <p:spPr>
          <a:xfrm>
            <a:off x="844550" y="2279073"/>
            <a:ext cx="0" cy="1395629"/>
          </a:xfrm>
          <a:prstGeom prst="line">
            <a:avLst/>
          </a:prstGeom>
          <a:noFill/>
          <a:ln w="63500">
            <a:solidFill>
              <a:srgbClr val="2A78D6"/>
            </a:solidFill>
            <a:prstDash val="solid"/>
          </a:ln>
        </p:spPr>
        <p:txBody>
          <a:bodyPr/>
          <a:lstStyle/>
          <a:p>
            <a:endParaRPr lang="es-CO"/>
          </a:p>
        </p:txBody>
      </p:sp>
      <p:sp>
        <p:nvSpPr>
          <p:cNvPr id="7" name="Text 5"/>
          <p:cNvSpPr/>
          <p:nvPr/>
        </p:nvSpPr>
        <p:spPr>
          <a:xfrm>
            <a:off x="1076036" y="2456873"/>
            <a:ext cx="4856619"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412"/>
                </a:solidFill>
                <a:latin typeface="Libre Franklin" pitchFamily="34" charset="0"/>
                <a:ea typeface="Libre Franklin" pitchFamily="34" charset="-122"/>
                <a:cs typeface="Libre Franklin" pitchFamily="34" charset="-120"/>
              </a:rPr>
              <a:t>Lomb–Scargle</a:t>
            </a:r>
            <a:endParaRPr lang="en-US" sz="1600" dirty="0"/>
          </a:p>
        </p:txBody>
      </p:sp>
      <p:sp>
        <p:nvSpPr>
          <p:cNvPr id="8" name="Text 6"/>
          <p:cNvSpPr/>
          <p:nvPr/>
        </p:nvSpPr>
        <p:spPr>
          <a:xfrm>
            <a:off x="1076036" y="2776900"/>
            <a:ext cx="4856619" cy="745403"/>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Identifica bien las frecuencias dominantes, pero reparte la potencia entre armónicos cuando la curva no es sinusoidal.</a:t>
            </a:r>
            <a:endParaRPr lang="en-US" sz="1400" dirty="0"/>
          </a:p>
        </p:txBody>
      </p:sp>
      <p:sp>
        <p:nvSpPr>
          <p:cNvPr id="9" name="Shape 7"/>
          <p:cNvSpPr/>
          <p:nvPr/>
        </p:nvSpPr>
        <p:spPr>
          <a:xfrm>
            <a:off x="6197600" y="2279073"/>
            <a:ext cx="5181600" cy="1395629"/>
          </a:xfrm>
          <a:prstGeom prst="rect">
            <a:avLst/>
          </a:prstGeom>
          <a:solidFill>
            <a:srgbClr val="F6F6F2"/>
          </a:solidFill>
          <a:ln/>
        </p:spPr>
        <p:txBody>
          <a:bodyPr/>
          <a:lstStyle/>
          <a:p>
            <a:endParaRPr lang="es-CO"/>
          </a:p>
        </p:txBody>
      </p:sp>
      <p:sp>
        <p:nvSpPr>
          <p:cNvPr id="10" name="Shape 8"/>
          <p:cNvSpPr/>
          <p:nvPr/>
        </p:nvSpPr>
        <p:spPr>
          <a:xfrm>
            <a:off x="6229350" y="2279073"/>
            <a:ext cx="0" cy="1395629"/>
          </a:xfrm>
          <a:prstGeom prst="line">
            <a:avLst/>
          </a:prstGeom>
          <a:noFill/>
          <a:ln w="63500">
            <a:solidFill>
              <a:srgbClr val="EB6834"/>
            </a:solidFill>
            <a:prstDash val="solid"/>
          </a:ln>
        </p:spPr>
        <p:txBody>
          <a:bodyPr/>
          <a:lstStyle/>
          <a:p>
            <a:endParaRPr lang="es-CO"/>
          </a:p>
        </p:txBody>
      </p:sp>
      <p:sp>
        <p:nvSpPr>
          <p:cNvPr id="11" name="Text 9"/>
          <p:cNvSpPr/>
          <p:nvPr/>
        </p:nvSpPr>
        <p:spPr>
          <a:xfrm>
            <a:off x="6460837" y="2456873"/>
            <a:ext cx="4856619" cy="26922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1412"/>
                </a:solidFill>
                <a:latin typeface="Libre Franklin" pitchFamily="34" charset="0"/>
                <a:ea typeface="Libre Franklin" pitchFamily="34" charset="-122"/>
                <a:cs typeface="Libre Franklin" pitchFamily="34" charset="-120"/>
              </a:rPr>
              <a:t>Mínima entropía</a:t>
            </a:r>
            <a:endParaRPr lang="en-US" sz="1600" dirty="0"/>
          </a:p>
        </p:txBody>
      </p:sp>
      <p:sp>
        <p:nvSpPr>
          <p:cNvPr id="12" name="Text 10"/>
          <p:cNvSpPr/>
          <p:nvPr/>
        </p:nvSpPr>
        <p:spPr>
          <a:xfrm>
            <a:off x="6460837" y="2776900"/>
            <a:ext cx="4856619" cy="50540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Es sensible a cualquier forma de curva, pero cae en mínimos falsos por el muestreo y los alias.</a:t>
            </a:r>
            <a:endParaRPr lang="en-US" sz="1400" dirty="0"/>
          </a:p>
        </p:txBody>
      </p:sp>
      <p:sp>
        <p:nvSpPr>
          <p:cNvPr id="13" name="Shape 11"/>
          <p:cNvSpPr/>
          <p:nvPr/>
        </p:nvSpPr>
        <p:spPr>
          <a:xfrm>
            <a:off x="812800" y="3903303"/>
            <a:ext cx="10566400" cy="1409628"/>
          </a:xfrm>
          <a:prstGeom prst="roundRect">
            <a:avLst>
              <a:gd name="adj" fmla="val 5406"/>
            </a:avLst>
          </a:prstGeom>
          <a:solidFill>
            <a:srgbClr val="22341A"/>
          </a:solidFill>
          <a:ln/>
        </p:spPr>
        <p:txBody>
          <a:bodyPr/>
          <a:lstStyle/>
          <a:p>
            <a:endParaRPr lang="es-CO"/>
          </a:p>
        </p:txBody>
      </p:sp>
      <p:sp>
        <p:nvSpPr>
          <p:cNvPr id="14" name="Text 12"/>
          <p:cNvSpPr/>
          <p:nvPr/>
        </p:nvSpPr>
        <p:spPr>
          <a:xfrm>
            <a:off x="1092200" y="4131903"/>
            <a:ext cx="10307828" cy="27427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5D04C"/>
                </a:solidFill>
                <a:latin typeface="Libre Franklin" pitchFamily="34" charset="0"/>
                <a:ea typeface="Libre Franklin" pitchFamily="34" charset="-122"/>
                <a:cs typeface="Libre Franklin" pitchFamily="34" charset="-120"/>
              </a:rPr>
              <a:t>PREGUNTA CIENTÍFICA</a:t>
            </a:r>
            <a:endParaRPr lang="en-US" sz="1400" dirty="0"/>
          </a:p>
        </p:txBody>
      </p:sp>
      <p:sp>
        <p:nvSpPr>
          <p:cNvPr id="15" name="Text 13"/>
          <p:cNvSpPr/>
          <p:nvPr/>
        </p:nvSpPr>
        <p:spPr>
          <a:xfrm>
            <a:off x="1092200" y="4456981"/>
            <a:ext cx="10307828" cy="652751"/>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F4F3EC"/>
                </a:solidFill>
                <a:latin typeface="Libre Franklin" pitchFamily="34" charset="0"/>
                <a:ea typeface="Libre Franklin" pitchFamily="34" charset="-122"/>
                <a:cs typeface="Libre Franklin" pitchFamily="34" charset="-120"/>
              </a:rPr>
              <a:t>¿Puede una combinación en paralelo de Lomb–Scargle y de la mínima entropía determinar periodos con más aciertos que cada método por separado?</a:t>
            </a:r>
            <a:endParaRPr lang="en-US" sz="1900" dirty="0"/>
          </a:p>
        </p:txBody>
      </p:sp>
      <p:pic>
        <p:nvPicPr>
          <p:cNvPr id="16" name="Image 0" descr="Book"/>
          <p:cNvPicPr>
            <a:picLocks noChangeAspect="1"/>
          </p:cNvPicPr>
          <p:nvPr/>
        </p:nvPicPr>
        <p:blipFill>
          <a:blip r:embed="rId3"/>
          <a:srcRect/>
          <a:stretch/>
        </p:blipFill>
        <p:spPr>
          <a:xfrm>
            <a:off x="812800" y="6294149"/>
            <a:ext cx="203200" cy="203200"/>
          </a:xfrm>
          <a:prstGeom prst="rect">
            <a:avLst/>
          </a:prstGeom>
        </p:spPr>
      </p:pic>
      <p:sp>
        <p:nvSpPr>
          <p:cNvPr id="17" name="Text 14"/>
          <p:cNvSpPr/>
          <p:nvPr/>
        </p:nvSpPr>
        <p:spPr>
          <a:xfrm>
            <a:off x="1092200" y="6289098"/>
            <a:ext cx="2913698"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 · Motivación y pregunta científica</a:t>
            </a:r>
            <a:endParaRPr lang="en-US" sz="1200" dirty="0"/>
          </a:p>
        </p:txBody>
      </p:sp>
      <p:sp>
        <p:nvSpPr>
          <p:cNvPr id="18" name="Text 15"/>
          <p:cNvSpPr/>
          <p:nvPr/>
        </p:nvSpPr>
        <p:spPr>
          <a:xfrm>
            <a:off x="11227594" y="6289098"/>
            <a:ext cx="151606"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El objetivo es desarrollar y validar ese método combinado</a:t>
            </a:r>
            <a:endParaRPr lang="en-US" sz="2600" dirty="0"/>
          </a:p>
        </p:txBody>
      </p:sp>
      <p:sp>
        <p:nvSpPr>
          <p:cNvPr id="4" name="Shape 2"/>
          <p:cNvSpPr/>
          <p:nvPr/>
        </p:nvSpPr>
        <p:spPr>
          <a:xfrm>
            <a:off x="812800" y="1521405"/>
            <a:ext cx="1524000" cy="76200"/>
          </a:xfrm>
          <a:prstGeom prst="rect">
            <a:avLst/>
          </a:prstGeom>
          <a:solidFill>
            <a:srgbClr val="5E7E3E"/>
          </a:solidFill>
          <a:ln/>
        </p:spPr>
        <p:txBody>
          <a:bodyPr/>
          <a:lstStyle/>
          <a:p>
            <a:endParaRPr lang="es-CO"/>
          </a:p>
        </p:txBody>
      </p:sp>
      <p:sp>
        <p:nvSpPr>
          <p:cNvPr id="5" name="Shape 3"/>
          <p:cNvSpPr/>
          <p:nvPr/>
        </p:nvSpPr>
        <p:spPr>
          <a:xfrm>
            <a:off x="812800" y="2612377"/>
            <a:ext cx="10566400" cy="1135279"/>
          </a:xfrm>
          <a:prstGeom prst="rect">
            <a:avLst/>
          </a:prstGeom>
          <a:solidFill>
            <a:srgbClr val="F6F6F2"/>
          </a:solidFill>
          <a:ln/>
        </p:spPr>
        <p:txBody>
          <a:bodyPr/>
          <a:lstStyle/>
          <a:p>
            <a:endParaRPr lang="es-CO"/>
          </a:p>
        </p:txBody>
      </p:sp>
      <p:sp>
        <p:nvSpPr>
          <p:cNvPr id="6" name="Shape 4"/>
          <p:cNvSpPr/>
          <p:nvPr/>
        </p:nvSpPr>
        <p:spPr>
          <a:xfrm>
            <a:off x="844550" y="2612377"/>
            <a:ext cx="0" cy="1135279"/>
          </a:xfrm>
          <a:prstGeom prst="line">
            <a:avLst/>
          </a:prstGeom>
          <a:noFill/>
          <a:ln w="63500">
            <a:solidFill>
              <a:srgbClr val="5E7E3E"/>
            </a:solidFill>
            <a:prstDash val="solid"/>
          </a:ln>
        </p:spPr>
        <p:txBody>
          <a:bodyPr/>
          <a:lstStyle/>
          <a:p>
            <a:endParaRPr lang="es-CO"/>
          </a:p>
        </p:txBody>
      </p:sp>
      <p:sp>
        <p:nvSpPr>
          <p:cNvPr id="7" name="Text 5"/>
          <p:cNvSpPr/>
          <p:nvPr/>
        </p:nvSpPr>
        <p:spPr>
          <a:xfrm>
            <a:off x="1076036" y="2764777"/>
            <a:ext cx="10402963" cy="25652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4F7A2E"/>
                </a:solidFill>
                <a:latin typeface="Libre Franklin" pitchFamily="34" charset="0"/>
                <a:ea typeface="Libre Franklin" pitchFamily="34" charset="-122"/>
                <a:cs typeface="Libre Franklin" pitchFamily="34" charset="-120"/>
              </a:rPr>
              <a:t>OBJETIVO GENERAL</a:t>
            </a:r>
            <a:endParaRPr lang="en-US" sz="1300" dirty="0"/>
          </a:p>
        </p:txBody>
      </p:sp>
      <p:sp>
        <p:nvSpPr>
          <p:cNvPr id="8" name="Text 6"/>
          <p:cNvSpPr/>
          <p:nvPr/>
        </p:nvSpPr>
        <p:spPr>
          <a:xfrm>
            <a:off x="1076036" y="3046704"/>
            <a:ext cx="10402963" cy="573953"/>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41412"/>
                </a:solidFill>
                <a:latin typeface="Libre Franklin" pitchFamily="34" charset="0"/>
                <a:ea typeface="Libre Franklin" pitchFamily="34" charset="-122"/>
                <a:cs typeface="Libre Franklin" pitchFamily="34" charset="-120"/>
              </a:rPr>
              <a:t>Desarrollar y validar un método robusto de determinación de periodos que integre Lomb–Scargle y el criterio de mínima entropía.</a:t>
            </a:r>
            <a:endParaRPr lang="en-US" sz="1600" dirty="0"/>
          </a:p>
        </p:txBody>
      </p:sp>
      <p:sp>
        <p:nvSpPr>
          <p:cNvPr id="9" name="Text 7"/>
          <p:cNvSpPr/>
          <p:nvPr/>
        </p:nvSpPr>
        <p:spPr>
          <a:xfrm>
            <a:off x="812800" y="3950857"/>
            <a:ext cx="304800" cy="345426"/>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F7A2E"/>
                </a:solidFill>
                <a:latin typeface="Archivo Black" pitchFamily="34" charset="0"/>
                <a:ea typeface="Archivo Black" pitchFamily="34" charset="-122"/>
                <a:cs typeface="Archivo Black" pitchFamily="34" charset="-120"/>
              </a:rPr>
              <a:t>1</a:t>
            </a:r>
            <a:endParaRPr lang="en-US" sz="1800" dirty="0"/>
          </a:p>
        </p:txBody>
      </p:sp>
      <p:sp>
        <p:nvSpPr>
          <p:cNvPr id="10" name="Text 8"/>
          <p:cNvSpPr/>
          <p:nvPr/>
        </p:nvSpPr>
        <p:spPr>
          <a:xfrm>
            <a:off x="1193800" y="3950857"/>
            <a:ext cx="50492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E2E2A"/>
                </a:solidFill>
                <a:latin typeface="Libre Franklin" pitchFamily="34" charset="0"/>
                <a:ea typeface="Libre Franklin" pitchFamily="34" charset="-122"/>
                <a:cs typeface="Libre Franklin" pitchFamily="34" charset="-120"/>
              </a:rPr>
              <a:t>Caracterizar cada método por separado frente a distintos tipos de variabilidad.</a:t>
            </a:r>
            <a:endParaRPr lang="en-US" sz="1500" dirty="0"/>
          </a:p>
        </p:txBody>
      </p:sp>
      <p:sp>
        <p:nvSpPr>
          <p:cNvPr id="11" name="Text 9"/>
          <p:cNvSpPr/>
          <p:nvPr/>
        </p:nvSpPr>
        <p:spPr>
          <a:xfrm>
            <a:off x="6096000" y="3950857"/>
            <a:ext cx="304800" cy="345426"/>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F7A2E"/>
                </a:solidFill>
                <a:latin typeface="Archivo Black" pitchFamily="34" charset="0"/>
                <a:ea typeface="Archivo Black" pitchFamily="34" charset="-122"/>
                <a:cs typeface="Archivo Black" pitchFamily="34" charset="-120"/>
              </a:rPr>
              <a:t>2</a:t>
            </a:r>
            <a:endParaRPr lang="en-US" sz="1800" dirty="0"/>
          </a:p>
        </p:txBody>
      </p:sp>
      <p:sp>
        <p:nvSpPr>
          <p:cNvPr id="12" name="Text 10"/>
          <p:cNvSpPr/>
          <p:nvPr/>
        </p:nvSpPr>
        <p:spPr>
          <a:xfrm>
            <a:off x="6477000" y="3950857"/>
            <a:ext cx="571500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E2E2A"/>
                </a:solidFill>
                <a:latin typeface="Libre Franklin" pitchFamily="34" charset="0"/>
                <a:ea typeface="Libre Franklin" pitchFamily="34" charset="-122"/>
                <a:cs typeface="Libre Franklin" pitchFamily="34" charset="-120"/>
              </a:rPr>
              <a:t>Diseñar un esquema de integración de ambas técnicas.</a:t>
            </a:r>
            <a:endParaRPr lang="en-US" sz="1500" dirty="0"/>
          </a:p>
        </p:txBody>
      </p:sp>
      <p:sp>
        <p:nvSpPr>
          <p:cNvPr id="13" name="Text 11"/>
          <p:cNvSpPr/>
          <p:nvPr/>
        </p:nvSpPr>
        <p:spPr>
          <a:xfrm>
            <a:off x="812800" y="4465207"/>
            <a:ext cx="304800" cy="345426"/>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F7A2E"/>
                </a:solidFill>
                <a:latin typeface="Archivo Black" pitchFamily="34" charset="0"/>
                <a:ea typeface="Archivo Black" pitchFamily="34" charset="-122"/>
                <a:cs typeface="Archivo Black" pitchFamily="34" charset="-120"/>
              </a:rPr>
              <a:t>3</a:t>
            </a:r>
            <a:endParaRPr lang="en-US" sz="1800" dirty="0"/>
          </a:p>
        </p:txBody>
      </p:sp>
      <p:sp>
        <p:nvSpPr>
          <p:cNvPr id="14" name="Text 12"/>
          <p:cNvSpPr/>
          <p:nvPr/>
        </p:nvSpPr>
        <p:spPr>
          <a:xfrm>
            <a:off x="1193800" y="4465207"/>
            <a:ext cx="50492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E2E2A"/>
                </a:solidFill>
                <a:latin typeface="Libre Franklin" pitchFamily="34" charset="0"/>
                <a:ea typeface="Libre Franklin" pitchFamily="34" charset="-122"/>
                <a:cs typeface="Libre Franklin" pitchFamily="34" charset="-120"/>
              </a:rPr>
              <a:t>Evaluarlo con curvas sintéticas de morfología, ruido y cadencia controlados.</a:t>
            </a:r>
            <a:endParaRPr lang="en-US" sz="1500" dirty="0"/>
          </a:p>
        </p:txBody>
      </p:sp>
      <p:sp>
        <p:nvSpPr>
          <p:cNvPr id="15" name="Text 13"/>
          <p:cNvSpPr/>
          <p:nvPr/>
        </p:nvSpPr>
        <p:spPr>
          <a:xfrm>
            <a:off x="6096000" y="4465207"/>
            <a:ext cx="304800" cy="345426"/>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4F7A2E"/>
                </a:solidFill>
                <a:latin typeface="Archivo Black" pitchFamily="34" charset="0"/>
                <a:ea typeface="Archivo Black" pitchFamily="34" charset="-122"/>
                <a:cs typeface="Archivo Black" pitchFamily="34" charset="-120"/>
              </a:rPr>
              <a:t>4</a:t>
            </a:r>
            <a:endParaRPr lang="en-US" sz="1800" dirty="0"/>
          </a:p>
        </p:txBody>
      </p:sp>
      <p:sp>
        <p:nvSpPr>
          <p:cNvPr id="16" name="Text 14"/>
          <p:cNvSpPr/>
          <p:nvPr/>
        </p:nvSpPr>
        <p:spPr>
          <a:xfrm>
            <a:off x="6477000" y="4465207"/>
            <a:ext cx="5049266"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2E2E2A"/>
                </a:solidFill>
                <a:latin typeface="Libre Franklin" pitchFamily="34" charset="0"/>
                <a:ea typeface="Libre Franklin" pitchFamily="34" charset="-122"/>
                <a:cs typeface="Libre Franklin" pitchFamily="34" charset="-120"/>
              </a:rPr>
              <a:t>Compararlo con cada método individual en datos de OGLE, VVV y TESS.</a:t>
            </a:r>
            <a:endParaRPr lang="en-US" sz="1500" dirty="0"/>
          </a:p>
        </p:txBody>
      </p:sp>
      <p:pic>
        <p:nvPicPr>
          <p:cNvPr id="17" name="Image 0" descr="Book"/>
          <p:cNvPicPr>
            <a:picLocks noChangeAspect="1"/>
          </p:cNvPicPr>
          <p:nvPr/>
        </p:nvPicPr>
        <p:blipFill>
          <a:blip r:embed="rId3"/>
          <a:srcRect/>
          <a:stretch/>
        </p:blipFill>
        <p:spPr>
          <a:xfrm>
            <a:off x="812800" y="6294149"/>
            <a:ext cx="203200" cy="203200"/>
          </a:xfrm>
          <a:prstGeom prst="rect">
            <a:avLst/>
          </a:prstGeom>
        </p:spPr>
      </p:pic>
      <p:sp>
        <p:nvSpPr>
          <p:cNvPr id="18" name="Text 15"/>
          <p:cNvSpPr/>
          <p:nvPr/>
        </p:nvSpPr>
        <p:spPr>
          <a:xfrm>
            <a:off x="1092200" y="6289098"/>
            <a:ext cx="1010256"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 · Objetivos</a:t>
            </a:r>
            <a:endParaRPr lang="en-US" sz="1200" dirty="0"/>
          </a:p>
        </p:txBody>
      </p:sp>
      <p:sp>
        <p:nvSpPr>
          <p:cNvPr id="19" name="Text 16"/>
          <p:cNvSpPr/>
          <p:nvPr/>
        </p:nvSpPr>
        <p:spPr>
          <a:xfrm>
            <a:off x="11237047" y="6289098"/>
            <a:ext cx="142153"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Hoy se cuenta con más de 93 000 variables de OGLE con periodo catalogado</a:t>
            </a:r>
            <a:endParaRPr lang="en-US" sz="2600" dirty="0"/>
          </a:p>
        </p:txBody>
      </p:sp>
      <p:sp>
        <p:nvSpPr>
          <p:cNvPr id="4" name="Shape 2"/>
          <p:cNvSpPr/>
          <p:nvPr/>
        </p:nvSpPr>
        <p:spPr>
          <a:xfrm>
            <a:off x="812800" y="1521405"/>
            <a:ext cx="1524000" cy="76200"/>
          </a:xfrm>
          <a:prstGeom prst="rect">
            <a:avLst/>
          </a:prstGeom>
          <a:solidFill>
            <a:srgbClr val="5E7E3E"/>
          </a:solidFill>
          <a:ln/>
        </p:spPr>
        <p:txBody>
          <a:bodyPr/>
          <a:lstStyle/>
          <a:p>
            <a:endParaRPr lang="es-CO"/>
          </a:p>
        </p:txBody>
      </p:sp>
      <p:sp>
        <p:nvSpPr>
          <p:cNvPr id="5" name="Shape 3"/>
          <p:cNvSpPr/>
          <p:nvPr/>
        </p:nvSpPr>
        <p:spPr>
          <a:xfrm>
            <a:off x="812800" y="2613316"/>
            <a:ext cx="3352800" cy="1716954"/>
          </a:xfrm>
          <a:prstGeom prst="rect">
            <a:avLst/>
          </a:prstGeom>
          <a:solidFill>
            <a:srgbClr val="F6F6F2"/>
          </a:solidFill>
          <a:ln/>
        </p:spPr>
        <p:txBody>
          <a:bodyPr/>
          <a:lstStyle/>
          <a:p>
            <a:endParaRPr lang="es-CO"/>
          </a:p>
        </p:txBody>
      </p:sp>
      <p:sp>
        <p:nvSpPr>
          <p:cNvPr id="6" name="Shape 4"/>
          <p:cNvSpPr/>
          <p:nvPr/>
        </p:nvSpPr>
        <p:spPr>
          <a:xfrm>
            <a:off x="844550" y="2613316"/>
            <a:ext cx="0" cy="1716954"/>
          </a:xfrm>
          <a:prstGeom prst="line">
            <a:avLst/>
          </a:prstGeom>
          <a:noFill/>
          <a:ln w="63500">
            <a:solidFill>
              <a:srgbClr val="4596A4"/>
            </a:solidFill>
            <a:prstDash val="solid"/>
          </a:ln>
        </p:spPr>
        <p:txBody>
          <a:bodyPr/>
          <a:lstStyle/>
          <a:p>
            <a:endParaRPr lang="es-CO"/>
          </a:p>
        </p:txBody>
      </p:sp>
      <p:sp>
        <p:nvSpPr>
          <p:cNvPr id="7" name="Text 5"/>
          <p:cNvSpPr/>
          <p:nvPr/>
        </p:nvSpPr>
        <p:spPr>
          <a:xfrm>
            <a:off x="1101436" y="2791116"/>
            <a:ext cx="2920631" cy="556202"/>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2F6F7A"/>
                </a:solidFill>
                <a:latin typeface="Archivo Black" pitchFamily="34" charset="0"/>
                <a:ea typeface="Archivo Black" pitchFamily="34" charset="-122"/>
                <a:cs typeface="Archivo Black" pitchFamily="34" charset="-120"/>
              </a:rPr>
              <a:t>41 471</a:t>
            </a:r>
            <a:endParaRPr lang="en-US" sz="3800" dirty="0"/>
          </a:p>
        </p:txBody>
      </p:sp>
      <p:sp>
        <p:nvSpPr>
          <p:cNvPr id="8" name="Text 6"/>
          <p:cNvSpPr/>
          <p:nvPr/>
        </p:nvSpPr>
        <p:spPr>
          <a:xfrm>
            <a:off x="1101436" y="3372718"/>
            <a:ext cx="292063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1412"/>
                </a:solidFill>
                <a:latin typeface="Libre Franklin" pitchFamily="34" charset="0"/>
                <a:ea typeface="Libre Franklin" pitchFamily="34" charset="-122"/>
                <a:cs typeface="Libre Franklin" pitchFamily="34" charset="-120"/>
              </a:rPr>
              <a:t>RR Lyrae</a:t>
            </a:r>
            <a:endParaRPr lang="en-US" sz="1500" dirty="0"/>
          </a:p>
        </p:txBody>
      </p:sp>
      <p:sp>
        <p:nvSpPr>
          <p:cNvPr id="9" name="Text 7"/>
          <p:cNvSpPr/>
          <p:nvPr/>
        </p:nvSpPr>
        <p:spPr>
          <a:xfrm>
            <a:off x="1101436" y="3690218"/>
            <a:ext cx="2920631"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5"/>
                </a:solidFill>
                <a:latin typeface="Libre Franklin" pitchFamily="34" charset="0"/>
                <a:ea typeface="Libre Franklin" pitchFamily="34" charset="-122"/>
                <a:cs typeface="Libre Franklin" pitchFamily="34" charset="-120"/>
              </a:rPr>
              <a:t>99.4% con fotometría · Nube Mayor</a:t>
            </a:r>
            <a:endParaRPr lang="en-US" sz="1300" dirty="0"/>
          </a:p>
        </p:txBody>
      </p:sp>
      <p:sp>
        <p:nvSpPr>
          <p:cNvPr id="10" name="Shape 8"/>
          <p:cNvSpPr/>
          <p:nvPr/>
        </p:nvSpPr>
        <p:spPr>
          <a:xfrm>
            <a:off x="4419600" y="2613316"/>
            <a:ext cx="3352800" cy="1716954"/>
          </a:xfrm>
          <a:prstGeom prst="rect">
            <a:avLst/>
          </a:prstGeom>
          <a:solidFill>
            <a:srgbClr val="F6F6F2"/>
          </a:solidFill>
          <a:ln/>
        </p:spPr>
        <p:txBody>
          <a:bodyPr/>
          <a:lstStyle/>
          <a:p>
            <a:endParaRPr lang="es-CO"/>
          </a:p>
        </p:txBody>
      </p:sp>
      <p:sp>
        <p:nvSpPr>
          <p:cNvPr id="11" name="Shape 9"/>
          <p:cNvSpPr/>
          <p:nvPr/>
        </p:nvSpPr>
        <p:spPr>
          <a:xfrm>
            <a:off x="4451350" y="2613316"/>
            <a:ext cx="0" cy="1716954"/>
          </a:xfrm>
          <a:prstGeom prst="line">
            <a:avLst/>
          </a:prstGeom>
          <a:noFill/>
          <a:ln w="63500">
            <a:solidFill>
              <a:srgbClr val="4596A4"/>
            </a:solidFill>
            <a:prstDash val="solid"/>
          </a:ln>
        </p:spPr>
        <p:txBody>
          <a:bodyPr/>
          <a:lstStyle/>
          <a:p>
            <a:endParaRPr lang="es-CO"/>
          </a:p>
        </p:txBody>
      </p:sp>
      <p:sp>
        <p:nvSpPr>
          <p:cNvPr id="12" name="Text 10"/>
          <p:cNvSpPr/>
          <p:nvPr/>
        </p:nvSpPr>
        <p:spPr>
          <a:xfrm>
            <a:off x="4708237" y="2791116"/>
            <a:ext cx="2920631" cy="556202"/>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2F6F7A"/>
                </a:solidFill>
                <a:latin typeface="Archivo Black" pitchFamily="34" charset="0"/>
                <a:ea typeface="Archivo Black" pitchFamily="34" charset="-122"/>
                <a:cs typeface="Archivo Black" pitchFamily="34" charset="-120"/>
              </a:rPr>
              <a:t>40 204</a:t>
            </a:r>
            <a:endParaRPr lang="en-US" sz="3800" dirty="0"/>
          </a:p>
        </p:txBody>
      </p:sp>
      <p:sp>
        <p:nvSpPr>
          <p:cNvPr id="13" name="Text 11"/>
          <p:cNvSpPr/>
          <p:nvPr/>
        </p:nvSpPr>
        <p:spPr>
          <a:xfrm>
            <a:off x="4708237" y="3372718"/>
            <a:ext cx="292063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1412"/>
                </a:solidFill>
                <a:latin typeface="Libre Franklin" pitchFamily="34" charset="0"/>
                <a:ea typeface="Libre Franklin" pitchFamily="34" charset="-122"/>
                <a:cs typeface="Libre Franklin" pitchFamily="34" charset="-120"/>
              </a:rPr>
              <a:t>Binarias eclipsantes</a:t>
            </a:r>
            <a:endParaRPr lang="en-US" sz="1500" dirty="0"/>
          </a:p>
        </p:txBody>
      </p:sp>
      <p:sp>
        <p:nvSpPr>
          <p:cNvPr id="14" name="Text 12"/>
          <p:cNvSpPr/>
          <p:nvPr/>
        </p:nvSpPr>
        <p:spPr>
          <a:xfrm>
            <a:off x="4708237" y="3690218"/>
            <a:ext cx="2920631" cy="256526"/>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5"/>
                </a:solidFill>
                <a:latin typeface="Libre Franklin" pitchFamily="34" charset="0"/>
                <a:ea typeface="Libre Franklin" pitchFamily="34" charset="-122"/>
                <a:cs typeface="Libre Franklin" pitchFamily="34" charset="-120"/>
              </a:rPr>
              <a:t>94.9% con fotometría · Nube Mayor</a:t>
            </a:r>
            <a:endParaRPr lang="en-US" sz="1300" dirty="0"/>
          </a:p>
        </p:txBody>
      </p:sp>
      <p:sp>
        <p:nvSpPr>
          <p:cNvPr id="15" name="Shape 13"/>
          <p:cNvSpPr/>
          <p:nvPr/>
        </p:nvSpPr>
        <p:spPr>
          <a:xfrm>
            <a:off x="8026400" y="2613316"/>
            <a:ext cx="3352800" cy="1716954"/>
          </a:xfrm>
          <a:prstGeom prst="rect">
            <a:avLst/>
          </a:prstGeom>
          <a:solidFill>
            <a:srgbClr val="F6F6F2"/>
          </a:solidFill>
          <a:ln/>
        </p:spPr>
        <p:txBody>
          <a:bodyPr/>
          <a:lstStyle/>
          <a:p>
            <a:endParaRPr lang="es-CO"/>
          </a:p>
        </p:txBody>
      </p:sp>
      <p:sp>
        <p:nvSpPr>
          <p:cNvPr id="16" name="Shape 14"/>
          <p:cNvSpPr/>
          <p:nvPr/>
        </p:nvSpPr>
        <p:spPr>
          <a:xfrm>
            <a:off x="8058150" y="2613316"/>
            <a:ext cx="0" cy="1716954"/>
          </a:xfrm>
          <a:prstGeom prst="line">
            <a:avLst/>
          </a:prstGeom>
          <a:noFill/>
          <a:ln w="63500">
            <a:solidFill>
              <a:srgbClr val="4596A4"/>
            </a:solidFill>
            <a:prstDash val="solid"/>
          </a:ln>
        </p:spPr>
        <p:txBody>
          <a:bodyPr/>
          <a:lstStyle/>
          <a:p>
            <a:endParaRPr lang="es-CO"/>
          </a:p>
        </p:txBody>
      </p:sp>
      <p:sp>
        <p:nvSpPr>
          <p:cNvPr id="17" name="Text 15"/>
          <p:cNvSpPr/>
          <p:nvPr/>
        </p:nvSpPr>
        <p:spPr>
          <a:xfrm>
            <a:off x="8315037" y="2791116"/>
            <a:ext cx="2920631" cy="556202"/>
          </a:xfrm>
          <a:prstGeom prst="rect">
            <a:avLst/>
          </a:prstGeom>
          <a:noFill/>
          <a:ln/>
        </p:spPr>
        <p:txBody>
          <a:bodyPr wrap="square" lIns="0" tIns="0" rIns="0" bIns="0" rtlCol="0" anchor="t">
            <a:normAutofit/>
          </a:bodyPr>
          <a:lstStyle/>
          <a:p>
            <a:pPr marL="0" indent="0" algn="l">
              <a:lnSpc>
                <a:spcPts val="4180"/>
              </a:lnSpc>
              <a:buNone/>
            </a:pPr>
            <a:r>
              <a:rPr lang="en-US" sz="3800" dirty="0">
                <a:solidFill>
                  <a:srgbClr val="2F6F7A"/>
                </a:solidFill>
                <a:latin typeface="Archivo Black" pitchFamily="34" charset="0"/>
                <a:ea typeface="Archivo Black" pitchFamily="34" charset="-122"/>
                <a:cs typeface="Archivo Black" pitchFamily="34" charset="-120"/>
              </a:rPr>
              <a:t>11 689</a:t>
            </a:r>
            <a:endParaRPr lang="en-US" sz="3800" dirty="0"/>
          </a:p>
        </p:txBody>
      </p:sp>
      <p:sp>
        <p:nvSpPr>
          <p:cNvPr id="18" name="Text 16"/>
          <p:cNvSpPr/>
          <p:nvPr/>
        </p:nvSpPr>
        <p:spPr>
          <a:xfrm>
            <a:off x="8315037" y="3372718"/>
            <a:ext cx="292063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1412"/>
                </a:solidFill>
                <a:latin typeface="Libre Franklin" pitchFamily="34" charset="0"/>
                <a:ea typeface="Libre Franklin" pitchFamily="34" charset="-122"/>
                <a:cs typeface="Libre Franklin" pitchFamily="34" charset="-120"/>
              </a:rPr>
              <a:t>Cefeidas clásicas</a:t>
            </a:r>
            <a:endParaRPr lang="en-US" sz="1500" dirty="0"/>
          </a:p>
        </p:txBody>
      </p:sp>
      <p:sp>
        <p:nvSpPr>
          <p:cNvPr id="19" name="Text 17"/>
          <p:cNvSpPr/>
          <p:nvPr/>
        </p:nvSpPr>
        <p:spPr>
          <a:xfrm>
            <a:off x="8315037" y="3690218"/>
            <a:ext cx="2920631" cy="48765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5"/>
                </a:solidFill>
                <a:latin typeface="Libre Franklin" pitchFamily="34" charset="0"/>
                <a:ea typeface="Libre Franklin" pitchFamily="34" charset="-122"/>
                <a:cs typeface="Libre Franklin" pitchFamily="34" charset="-120"/>
              </a:rPr>
              <a:t>99.3% con fotometría · Nubes y disco</a:t>
            </a:r>
            <a:endParaRPr lang="en-US" sz="1300" dirty="0"/>
          </a:p>
        </p:txBody>
      </p:sp>
      <p:sp>
        <p:nvSpPr>
          <p:cNvPr id="20" name="Text 18"/>
          <p:cNvSpPr/>
          <p:nvPr/>
        </p:nvSpPr>
        <p:spPr>
          <a:xfrm>
            <a:off x="812800" y="4648057"/>
            <a:ext cx="15242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1412"/>
                </a:solidFill>
                <a:latin typeface="Libre Franklin" pitchFamily="34" charset="0"/>
                <a:ea typeface="Libre Franklin" pitchFamily="34" charset="-122"/>
                <a:cs typeface="Libre Franklin" pitchFamily="34" charset="-120"/>
              </a:rPr>
              <a:t>Por incorporar:</a:t>
            </a:r>
            <a:endParaRPr lang="en-US" sz="1500" dirty="0"/>
          </a:p>
        </p:txBody>
      </p:sp>
      <p:sp>
        <p:nvSpPr>
          <p:cNvPr id="21" name="Text 19"/>
          <p:cNvSpPr/>
          <p:nvPr/>
        </p:nvSpPr>
        <p:spPr>
          <a:xfrm>
            <a:off x="2343439" y="4590616"/>
            <a:ext cx="1778650" cy="381649"/>
          </a:xfrm>
          <a:prstGeom prst="roundRect">
            <a:avLst>
              <a:gd name="adj" fmla="val 50000"/>
            </a:avLst>
          </a:prstGeom>
          <a:solidFill>
            <a:srgbClr val="FCEDE6"/>
          </a:solidFill>
          <a:ln w="12700">
            <a:solidFill>
              <a:srgbClr val="EB6834"/>
            </a:solidFill>
            <a:prstDash val="solid"/>
          </a:ln>
        </p:spPr>
        <p:txBody>
          <a:bodyPr wrap="none" lIns="0" tIns="0" rIns="0" bIns="0" rtlCol="0" anchor="ctr">
            <a:normAutofit/>
          </a:bodyPr>
          <a:lstStyle/>
          <a:p>
            <a:pPr marL="0" indent="0" algn="ctr">
              <a:lnSpc>
                <a:spcPts val="1960"/>
              </a:lnSpc>
              <a:buNone/>
            </a:pPr>
            <a:r>
              <a:rPr lang="en-US" sz="1400" dirty="0">
                <a:solidFill>
                  <a:srgbClr val="141412"/>
                </a:solidFill>
                <a:latin typeface="Libre Franklin" pitchFamily="34" charset="0"/>
                <a:ea typeface="Libre Franklin" pitchFamily="34" charset="-122"/>
                <a:cs typeface="Libre Franklin" pitchFamily="34" charset="-120"/>
              </a:rPr>
              <a:t>Curvas sintéticas</a:t>
            </a:r>
            <a:endParaRPr lang="en-US" sz="1400" dirty="0"/>
          </a:p>
        </p:txBody>
      </p:sp>
      <p:sp>
        <p:nvSpPr>
          <p:cNvPr id="22" name="Text 20"/>
          <p:cNvSpPr/>
          <p:nvPr/>
        </p:nvSpPr>
        <p:spPr>
          <a:xfrm>
            <a:off x="4287188" y="4590616"/>
            <a:ext cx="2166938" cy="381649"/>
          </a:xfrm>
          <a:prstGeom prst="roundRect">
            <a:avLst>
              <a:gd name="adj" fmla="val 50000"/>
            </a:avLst>
          </a:prstGeom>
          <a:solidFill>
            <a:srgbClr val="FCEDE6"/>
          </a:solidFill>
          <a:ln w="12700">
            <a:solidFill>
              <a:srgbClr val="EB6834"/>
            </a:solidFill>
            <a:prstDash val="solid"/>
          </a:ln>
        </p:spPr>
        <p:txBody>
          <a:bodyPr wrap="none" lIns="0" tIns="0" rIns="0" bIns="0" rtlCol="0" anchor="ctr">
            <a:normAutofit/>
          </a:bodyPr>
          <a:lstStyle/>
          <a:p>
            <a:pPr marL="0" indent="0" algn="ctr">
              <a:lnSpc>
                <a:spcPts val="1960"/>
              </a:lnSpc>
              <a:buNone/>
            </a:pPr>
            <a:r>
              <a:rPr lang="en-US" sz="1400" dirty="0">
                <a:solidFill>
                  <a:srgbClr val="141412"/>
                </a:solidFill>
                <a:latin typeface="Libre Franklin" pitchFamily="34" charset="0"/>
                <a:ea typeface="Libre Franklin" pitchFamily="34" charset="-122"/>
                <a:cs typeface="Libre Franklin" pitchFamily="34" charset="-120"/>
              </a:rPr>
              <a:t>VVV/VVVX · infrarrojo</a:t>
            </a:r>
            <a:endParaRPr lang="en-US" sz="1400" dirty="0"/>
          </a:p>
        </p:txBody>
      </p:sp>
      <p:sp>
        <p:nvSpPr>
          <p:cNvPr id="23" name="Text 21"/>
          <p:cNvSpPr/>
          <p:nvPr/>
        </p:nvSpPr>
        <p:spPr>
          <a:xfrm>
            <a:off x="6619225" y="4590616"/>
            <a:ext cx="2629333" cy="381649"/>
          </a:xfrm>
          <a:prstGeom prst="roundRect">
            <a:avLst>
              <a:gd name="adj" fmla="val 50000"/>
            </a:avLst>
          </a:prstGeom>
          <a:solidFill>
            <a:srgbClr val="FCEDE6"/>
          </a:solidFill>
          <a:ln w="12700">
            <a:solidFill>
              <a:srgbClr val="EB6834"/>
            </a:solidFill>
            <a:prstDash val="solid"/>
          </a:ln>
        </p:spPr>
        <p:txBody>
          <a:bodyPr wrap="none" lIns="0" tIns="0" rIns="0" bIns="0" rtlCol="0" anchor="ctr">
            <a:normAutofit/>
          </a:bodyPr>
          <a:lstStyle/>
          <a:p>
            <a:pPr marL="0" indent="0" algn="ctr">
              <a:lnSpc>
                <a:spcPts val="1960"/>
              </a:lnSpc>
              <a:buNone/>
            </a:pPr>
            <a:r>
              <a:rPr lang="en-US" sz="1400" dirty="0">
                <a:solidFill>
                  <a:srgbClr val="141412"/>
                </a:solidFill>
                <a:latin typeface="Libre Franklin" pitchFamily="34" charset="0"/>
                <a:ea typeface="Libre Franklin" pitchFamily="34" charset="-122"/>
                <a:cs typeface="Libre Franklin" pitchFamily="34" charset="-120"/>
              </a:rPr>
              <a:t>TESS · cadencia de minutos</a:t>
            </a:r>
            <a:endParaRPr lang="en-US" sz="1400" dirty="0"/>
          </a:p>
        </p:txBody>
      </p:sp>
      <p:pic>
        <p:nvPicPr>
          <p:cNvPr id="24" name="Image 0" descr="Database"/>
          <p:cNvPicPr>
            <a:picLocks noChangeAspect="1"/>
          </p:cNvPicPr>
          <p:nvPr/>
        </p:nvPicPr>
        <p:blipFill>
          <a:blip r:embed="rId3"/>
          <a:srcRect/>
          <a:stretch/>
        </p:blipFill>
        <p:spPr>
          <a:xfrm>
            <a:off x="812800" y="6294152"/>
            <a:ext cx="203200" cy="203200"/>
          </a:xfrm>
          <a:prstGeom prst="rect">
            <a:avLst/>
          </a:prstGeom>
        </p:spPr>
      </p:pic>
      <p:sp>
        <p:nvSpPr>
          <p:cNvPr id="25" name="Text 22"/>
          <p:cNvSpPr/>
          <p:nvPr/>
        </p:nvSpPr>
        <p:spPr>
          <a:xfrm>
            <a:off x="1092200" y="6289098"/>
            <a:ext cx="437033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2 · Datos · OGLE Collection of Variable Stars, banda I</a:t>
            </a:r>
            <a:endParaRPr lang="en-US" sz="1200" dirty="0"/>
          </a:p>
        </p:txBody>
      </p:sp>
      <p:sp>
        <p:nvSpPr>
          <p:cNvPr id="26" name="Text 23"/>
          <p:cNvSpPr/>
          <p:nvPr/>
        </p:nvSpPr>
        <p:spPr>
          <a:xfrm>
            <a:off x="11226584" y="6289098"/>
            <a:ext cx="152616"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Cada método se evalúa contra el periodo catalogado de muestras aleatorias</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sp>
        <p:nvSpPr>
          <p:cNvPr id="5" name="Shape 3"/>
          <p:cNvSpPr/>
          <p:nvPr/>
        </p:nvSpPr>
        <p:spPr>
          <a:xfrm>
            <a:off x="812800" y="2535386"/>
            <a:ext cx="5156200" cy="1698264"/>
          </a:xfrm>
          <a:prstGeom prst="rect">
            <a:avLst/>
          </a:prstGeom>
          <a:solidFill>
            <a:srgbClr val="F6F6F2"/>
          </a:solidFill>
          <a:ln/>
        </p:spPr>
        <p:txBody>
          <a:bodyPr/>
          <a:lstStyle/>
          <a:p>
            <a:endParaRPr lang="es-CO"/>
          </a:p>
        </p:txBody>
      </p:sp>
      <p:sp>
        <p:nvSpPr>
          <p:cNvPr id="6" name="Shape 4"/>
          <p:cNvSpPr/>
          <p:nvPr/>
        </p:nvSpPr>
        <p:spPr>
          <a:xfrm>
            <a:off x="812800" y="2567136"/>
            <a:ext cx="5156200" cy="0"/>
          </a:xfrm>
          <a:prstGeom prst="line">
            <a:avLst/>
          </a:prstGeom>
          <a:noFill/>
          <a:ln w="63500">
            <a:solidFill>
              <a:srgbClr val="4596A4"/>
            </a:solidFill>
            <a:prstDash val="solid"/>
          </a:ln>
        </p:spPr>
        <p:txBody>
          <a:bodyPr/>
          <a:lstStyle/>
          <a:p>
            <a:endParaRPr lang="es-CO"/>
          </a:p>
        </p:txBody>
      </p:sp>
      <p:sp>
        <p:nvSpPr>
          <p:cNvPr id="7" name="Text 5"/>
          <p:cNvSpPr/>
          <p:nvPr/>
        </p:nvSpPr>
        <p:spPr>
          <a:xfrm>
            <a:off x="1041400" y="2773220"/>
            <a:ext cx="4839970" cy="25652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F6F7A"/>
                </a:solidFill>
                <a:latin typeface="Libre Franklin" pitchFamily="34" charset="0"/>
                <a:ea typeface="Libre Franklin" pitchFamily="34" charset="-122"/>
                <a:cs typeface="Libre Franklin" pitchFamily="34" charset="-120"/>
              </a:rPr>
              <a:t>CARACTERIZACIÓN INDIVIDUAL</a:t>
            </a:r>
            <a:endParaRPr lang="en-US" sz="1300" dirty="0"/>
          </a:p>
        </p:txBody>
      </p:sp>
      <p:sp>
        <p:nvSpPr>
          <p:cNvPr id="8" name="Text 6"/>
          <p:cNvSpPr/>
          <p:nvPr/>
        </p:nvSpPr>
        <p:spPr>
          <a:xfrm>
            <a:off x="1041400" y="3080544"/>
            <a:ext cx="4839970"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141412"/>
                </a:solidFill>
                <a:latin typeface="Archivo Black" pitchFamily="34" charset="0"/>
                <a:ea typeface="Archivo Black" pitchFamily="34" charset="-122"/>
                <a:cs typeface="Archivo Black" pitchFamily="34" charset="-120"/>
              </a:rPr>
              <a:t>3 × 500</a:t>
            </a:r>
            <a:endParaRPr lang="en-US" sz="3000" dirty="0"/>
          </a:p>
        </p:txBody>
      </p:sp>
      <p:sp>
        <p:nvSpPr>
          <p:cNvPr id="9" name="Text 7"/>
          <p:cNvSpPr/>
          <p:nvPr/>
        </p:nvSpPr>
        <p:spPr>
          <a:xfrm>
            <a:off x="1041400" y="3575844"/>
            <a:ext cx="4839970" cy="50540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Cefeidas, RR Lyrae y binarias; Lomb–Scargle y mínima entropía sobre las mismas estrellas.</a:t>
            </a:r>
            <a:endParaRPr lang="en-US" sz="1400" dirty="0"/>
          </a:p>
        </p:txBody>
      </p:sp>
      <p:sp>
        <p:nvSpPr>
          <p:cNvPr id="10" name="Shape 8"/>
          <p:cNvSpPr/>
          <p:nvPr/>
        </p:nvSpPr>
        <p:spPr>
          <a:xfrm>
            <a:off x="6223000" y="2535386"/>
            <a:ext cx="5156200" cy="1698264"/>
          </a:xfrm>
          <a:prstGeom prst="rect">
            <a:avLst/>
          </a:prstGeom>
          <a:solidFill>
            <a:srgbClr val="F6F6F2"/>
          </a:solidFill>
          <a:ln/>
        </p:spPr>
        <p:txBody>
          <a:bodyPr/>
          <a:lstStyle/>
          <a:p>
            <a:endParaRPr lang="es-CO"/>
          </a:p>
        </p:txBody>
      </p:sp>
      <p:sp>
        <p:nvSpPr>
          <p:cNvPr id="11" name="Shape 9"/>
          <p:cNvSpPr/>
          <p:nvPr/>
        </p:nvSpPr>
        <p:spPr>
          <a:xfrm>
            <a:off x="6223000" y="2567136"/>
            <a:ext cx="5156200" cy="0"/>
          </a:xfrm>
          <a:prstGeom prst="line">
            <a:avLst/>
          </a:prstGeom>
          <a:noFill/>
          <a:ln w="63500">
            <a:solidFill>
              <a:srgbClr val="7BA654"/>
            </a:solidFill>
            <a:prstDash val="solid"/>
          </a:ln>
        </p:spPr>
        <p:txBody>
          <a:bodyPr/>
          <a:lstStyle/>
          <a:p>
            <a:endParaRPr lang="es-CO"/>
          </a:p>
        </p:txBody>
      </p:sp>
      <p:sp>
        <p:nvSpPr>
          <p:cNvPr id="12" name="Text 10"/>
          <p:cNvSpPr/>
          <p:nvPr/>
        </p:nvSpPr>
        <p:spPr>
          <a:xfrm>
            <a:off x="6451600" y="2773220"/>
            <a:ext cx="4839970" cy="25652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4F7A2E"/>
                </a:solidFill>
                <a:latin typeface="Libre Franklin" pitchFamily="34" charset="0"/>
                <a:ea typeface="Libre Franklin" pitchFamily="34" charset="-122"/>
                <a:cs typeface="Libre Franklin" pitchFamily="34" charset="-120"/>
              </a:rPr>
              <a:t>MÉTODO HÍBRIDO</a:t>
            </a:r>
            <a:endParaRPr lang="en-US" sz="1300" dirty="0"/>
          </a:p>
        </p:txBody>
      </p:sp>
      <p:sp>
        <p:nvSpPr>
          <p:cNvPr id="13" name="Text 11"/>
          <p:cNvSpPr/>
          <p:nvPr/>
        </p:nvSpPr>
        <p:spPr>
          <a:xfrm>
            <a:off x="6451600" y="3080544"/>
            <a:ext cx="4839970" cy="444500"/>
          </a:xfrm>
          <a:prstGeom prst="rect">
            <a:avLst/>
          </a:prstGeom>
          <a:noFill/>
          <a:ln/>
        </p:spPr>
        <p:txBody>
          <a:bodyPr wrap="square" lIns="0" tIns="0" rIns="0" bIns="0" rtlCol="0" anchor="t">
            <a:normAutofit/>
          </a:bodyPr>
          <a:lstStyle/>
          <a:p>
            <a:pPr marL="0" indent="0" algn="l">
              <a:lnSpc>
                <a:spcPts val="3300"/>
              </a:lnSpc>
              <a:buNone/>
            </a:pPr>
            <a:r>
              <a:rPr lang="en-US" sz="3000" dirty="0">
                <a:solidFill>
                  <a:srgbClr val="141412"/>
                </a:solidFill>
                <a:latin typeface="Archivo Black" pitchFamily="34" charset="0"/>
                <a:ea typeface="Archivo Black" pitchFamily="34" charset="-122"/>
                <a:cs typeface="Archivo Black" pitchFamily="34" charset="-120"/>
              </a:rPr>
              <a:t>1000</a:t>
            </a:r>
            <a:endParaRPr lang="en-US" sz="3000" dirty="0"/>
          </a:p>
        </p:txBody>
      </p:sp>
      <p:sp>
        <p:nvSpPr>
          <p:cNvPr id="14" name="Text 12"/>
          <p:cNvSpPr/>
          <p:nvPr/>
        </p:nvSpPr>
        <p:spPr>
          <a:xfrm>
            <a:off x="6451600" y="3575844"/>
            <a:ext cx="4839970" cy="50540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Binarias nuevas, con otra semilla aleatoria, sobre una grilla de 10⁵ frecuencias entre 0.1 y 100 d.</a:t>
            </a:r>
            <a:endParaRPr lang="en-US" sz="1400" dirty="0"/>
          </a:p>
        </p:txBody>
      </p:sp>
      <p:sp>
        <p:nvSpPr>
          <p:cNvPr id="15" name="Text 13"/>
          <p:cNvSpPr/>
          <p:nvPr/>
        </p:nvSpPr>
        <p:spPr>
          <a:xfrm>
            <a:off x="1041400" y="4462245"/>
            <a:ext cx="4839970"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141412"/>
                </a:solidFill>
                <a:latin typeface="Archivo Black" pitchFamily="34" charset="0"/>
                <a:ea typeface="Archivo Black" pitchFamily="34" charset="-122"/>
                <a:cs typeface="Archivo Black" pitchFamily="34" charset="-120"/>
              </a:rPr>
              <a:t>error relativo &lt; 1%</a:t>
            </a:r>
            <a:endParaRPr lang="en-US" sz="2200" dirty="0"/>
          </a:p>
        </p:txBody>
      </p:sp>
      <p:sp>
        <p:nvSpPr>
          <p:cNvPr id="16" name="Text 14"/>
          <p:cNvSpPr/>
          <p:nvPr/>
        </p:nvSpPr>
        <p:spPr>
          <a:xfrm>
            <a:off x="1041400" y="4807676"/>
            <a:ext cx="4839970" cy="27427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A45"/>
                </a:solidFill>
                <a:latin typeface="Libre Franklin" pitchFamily="34" charset="0"/>
                <a:ea typeface="Libre Franklin" pitchFamily="34" charset="-122"/>
                <a:cs typeface="Libre Franklin" pitchFamily="34" charset="-120"/>
              </a:rPr>
              <a:t>criterio de acierto frente al periodo de OGLE</a:t>
            </a:r>
            <a:endParaRPr lang="en-US" sz="1400" dirty="0"/>
          </a:p>
        </p:txBody>
      </p:sp>
      <p:sp>
        <p:nvSpPr>
          <p:cNvPr id="17" name="Text 15"/>
          <p:cNvSpPr/>
          <p:nvPr/>
        </p:nvSpPr>
        <p:spPr>
          <a:xfrm>
            <a:off x="6451600" y="4462245"/>
            <a:ext cx="4839970"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141412"/>
                </a:solidFill>
                <a:latin typeface="Archivo Black" pitchFamily="34" charset="0"/>
                <a:ea typeface="Archivo Black" pitchFamily="34" charset="-122"/>
                <a:cs typeface="Archivo Black" pitchFamily="34" charset="-120"/>
              </a:rPr>
              <a:t>solo para evaluar</a:t>
            </a:r>
            <a:endParaRPr lang="en-US" sz="2200" dirty="0"/>
          </a:p>
        </p:txBody>
      </p:sp>
      <p:sp>
        <p:nvSpPr>
          <p:cNvPr id="18" name="Text 16"/>
          <p:cNvSpPr/>
          <p:nvPr/>
        </p:nvSpPr>
        <p:spPr>
          <a:xfrm>
            <a:off x="6451600" y="4807676"/>
            <a:ext cx="4839970" cy="27427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A45"/>
                </a:solidFill>
                <a:latin typeface="Libre Franklin" pitchFamily="34" charset="0"/>
                <a:ea typeface="Libre Franklin" pitchFamily="34" charset="-122"/>
                <a:cs typeface="Libre Franklin" pitchFamily="34" charset="-120"/>
              </a:rPr>
              <a:t>el catálogo no interviene en ningún paso del método</a:t>
            </a:r>
            <a:endParaRPr lang="en-US" sz="1400" dirty="0"/>
          </a:p>
        </p:txBody>
      </p:sp>
      <p:pic>
        <p:nvPicPr>
          <p:cNvPr id="19" name="Image 0" descr="Settings"/>
          <p:cNvPicPr>
            <a:picLocks noChangeAspect="1"/>
          </p:cNvPicPr>
          <p:nvPr/>
        </p:nvPicPr>
        <p:blipFill>
          <a:blip r:embed="rId3"/>
          <a:srcRect/>
          <a:stretch/>
        </p:blipFill>
        <p:spPr>
          <a:xfrm>
            <a:off x="812800" y="6294152"/>
            <a:ext cx="203200" cy="203200"/>
          </a:xfrm>
          <a:prstGeom prst="rect">
            <a:avLst/>
          </a:prstGeom>
        </p:spPr>
      </p:pic>
      <p:sp>
        <p:nvSpPr>
          <p:cNvPr id="20" name="Text 17"/>
          <p:cNvSpPr/>
          <p:nvPr/>
        </p:nvSpPr>
        <p:spPr>
          <a:xfrm>
            <a:off x="1092200" y="6289098"/>
            <a:ext cx="3465628"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3 · Metodología · Protocolo de evaluación</a:t>
            </a:r>
            <a:endParaRPr lang="en-US" sz="1200" dirty="0"/>
          </a:p>
        </p:txBody>
      </p:sp>
      <p:sp>
        <p:nvSpPr>
          <p:cNvPr id="21" name="Text 18"/>
          <p:cNvSpPr/>
          <p:nvPr/>
        </p:nvSpPr>
        <p:spPr>
          <a:xfrm>
            <a:off x="11228099" y="6289098"/>
            <a:ext cx="151101"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El método híbrido combina ambos criterios y luego elige el múltiplo del periodo</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sp>
        <p:nvSpPr>
          <p:cNvPr id="5" name="Text 3"/>
          <p:cNvSpPr/>
          <p:nvPr/>
        </p:nvSpPr>
        <p:spPr>
          <a:xfrm>
            <a:off x="812800" y="178204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7A2E"/>
                </a:solidFill>
                <a:latin typeface="Libre Franklin" pitchFamily="34" charset="0"/>
                <a:ea typeface="Libre Franklin" pitchFamily="34" charset="-122"/>
                <a:cs typeface="Libre Franklin" pitchFamily="34" charset="-120"/>
              </a:rPr>
              <a:t>Etapa 1 · Búsqueda global sobre 10⁵ frecuencias</a:t>
            </a:r>
            <a:endParaRPr lang="en-US" sz="1500" dirty="0"/>
          </a:p>
        </p:txBody>
      </p:sp>
      <p:sp>
        <p:nvSpPr>
          <p:cNvPr id="6" name="Text 4"/>
          <p:cNvSpPr/>
          <p:nvPr/>
        </p:nvSpPr>
        <p:spPr>
          <a:xfrm>
            <a:off x="819150" y="2618656"/>
            <a:ext cx="2180936" cy="558223"/>
          </a:xfrm>
          <a:prstGeom prst="roundRect">
            <a:avLst>
              <a:gd name="adj" fmla="val 12513"/>
            </a:avLst>
          </a:prstGeom>
          <a:solidFill>
            <a:srgbClr val="F6F6F2"/>
          </a:solidFill>
          <a:ln w="12700">
            <a:solidFill>
              <a:srgbClr val="C9C8C1"/>
            </a:solidFill>
            <a:prstDash val="solid"/>
          </a:ln>
        </p:spPr>
        <p:txBody>
          <a:bodyPr wrap="square" lIns="106773" tIns="134828" rIns="106773" bIns="109428" rtlCol="0" anchor="t">
            <a:normAutofit/>
          </a:bodyPr>
          <a:lstStyle/>
          <a:p>
            <a:pPr marL="0" indent="0" algn="ctr">
              <a:lnSpc>
                <a:spcPts val="1950"/>
              </a:lnSpc>
              <a:buNone/>
            </a:pPr>
            <a:r>
              <a:rPr lang="en-US" sz="1500" dirty="0">
                <a:solidFill>
                  <a:srgbClr val="141412"/>
                </a:solidFill>
                <a:latin typeface="Libre Franklin" pitchFamily="34" charset="0"/>
                <a:ea typeface="Libre Franklin" pitchFamily="34" charset="-122"/>
                <a:cs typeface="Libre Franklin" pitchFamily="34" charset="-120"/>
              </a:rPr>
              <a:t>Curva de luz</a:t>
            </a:r>
            <a:endParaRPr lang="en-US" sz="1500" dirty="0"/>
          </a:p>
        </p:txBody>
      </p:sp>
      <p:pic>
        <p:nvPicPr>
          <p:cNvPr id="7" name="Image 0" descr="arrow-right"/>
          <p:cNvPicPr>
            <a:picLocks noChangeAspect="1"/>
          </p:cNvPicPr>
          <p:nvPr/>
        </p:nvPicPr>
        <p:blipFill>
          <a:blip r:embed="rId3"/>
          <a:srcRect/>
          <a:stretch/>
        </p:blipFill>
        <p:spPr>
          <a:xfrm>
            <a:off x="3158836" y="2796164"/>
            <a:ext cx="406400" cy="203200"/>
          </a:xfrm>
          <a:prstGeom prst="rect">
            <a:avLst/>
          </a:prstGeom>
        </p:spPr>
      </p:pic>
      <p:sp>
        <p:nvSpPr>
          <p:cNvPr id="8" name="Text 5"/>
          <p:cNvSpPr/>
          <p:nvPr/>
        </p:nvSpPr>
        <p:spPr>
          <a:xfrm>
            <a:off x="3723987" y="2182093"/>
            <a:ext cx="1857664" cy="671224"/>
          </a:xfrm>
          <a:prstGeom prst="roundRect">
            <a:avLst>
              <a:gd name="adj" fmla="val 10406"/>
            </a:avLst>
          </a:prstGeom>
          <a:solidFill>
            <a:srgbClr val="E8F0FA"/>
          </a:solidFill>
          <a:ln w="12700">
            <a:solidFill>
              <a:srgbClr val="2A78D6"/>
            </a:solidFill>
            <a:prstDash val="solid"/>
          </a:ln>
        </p:spPr>
        <p:txBody>
          <a:bodyPr wrap="square" lIns="58628" tIns="84028" rIns="58628" bIns="58628" rtlCol="0" anchor="t">
            <a:normAutofit/>
          </a:bodyPr>
          <a:lstStyle/>
          <a:p>
            <a:pPr marL="0" indent="0" algn="ctr">
              <a:lnSpc>
                <a:spcPts val="1820"/>
              </a:lnSpc>
              <a:buNone/>
            </a:pPr>
            <a:r>
              <a:rPr lang="en-US" sz="1400" dirty="0">
                <a:solidFill>
                  <a:srgbClr val="141412"/>
                </a:solidFill>
                <a:latin typeface="Libre Franklin" pitchFamily="34" charset="0"/>
                <a:ea typeface="Libre Franklin" pitchFamily="34" charset="-122"/>
                <a:cs typeface="Libre Franklin" pitchFamily="34" charset="-120"/>
              </a:rPr>
              <a:t>Lomb–Scargle generalizado</a:t>
            </a:r>
            <a:endParaRPr lang="en-US" sz="1400" dirty="0"/>
          </a:p>
        </p:txBody>
      </p:sp>
      <p:sp>
        <p:nvSpPr>
          <p:cNvPr id="9" name="Text 6"/>
          <p:cNvSpPr/>
          <p:nvPr/>
        </p:nvSpPr>
        <p:spPr>
          <a:xfrm>
            <a:off x="3723987" y="2942214"/>
            <a:ext cx="1857664" cy="671224"/>
          </a:xfrm>
          <a:prstGeom prst="roundRect">
            <a:avLst>
              <a:gd name="adj" fmla="val 10406"/>
            </a:avLst>
          </a:prstGeom>
          <a:solidFill>
            <a:srgbClr val="FCEDE6"/>
          </a:solidFill>
          <a:ln w="12700">
            <a:solidFill>
              <a:srgbClr val="EB6834"/>
            </a:solidFill>
            <a:prstDash val="solid"/>
          </a:ln>
        </p:spPr>
        <p:txBody>
          <a:bodyPr wrap="square" lIns="58628" tIns="84028" rIns="58628" bIns="58628" rtlCol="0" anchor="t">
            <a:normAutofit/>
          </a:bodyPr>
          <a:lstStyle/>
          <a:p>
            <a:pPr marL="0" indent="0" algn="ctr">
              <a:lnSpc>
                <a:spcPts val="1820"/>
              </a:lnSpc>
              <a:buNone/>
            </a:pPr>
            <a:r>
              <a:rPr lang="en-US" sz="1400" dirty="0">
                <a:solidFill>
                  <a:srgbClr val="141412"/>
                </a:solidFill>
                <a:latin typeface="Libre Franklin" pitchFamily="34" charset="0"/>
                <a:ea typeface="Libre Franklin" pitchFamily="34" charset="-122"/>
                <a:cs typeface="Libre Franklin" pitchFamily="34" charset="-120"/>
              </a:rPr>
              <a:t>Entropía condicional</a:t>
            </a:r>
            <a:endParaRPr lang="en-US" sz="1400" dirty="0"/>
          </a:p>
        </p:txBody>
      </p:sp>
      <p:pic>
        <p:nvPicPr>
          <p:cNvPr id="10" name="Image 1" descr="arrow-right"/>
          <p:cNvPicPr>
            <a:picLocks noChangeAspect="1"/>
          </p:cNvPicPr>
          <p:nvPr/>
        </p:nvPicPr>
        <p:blipFill>
          <a:blip r:embed="rId3"/>
          <a:srcRect/>
          <a:stretch/>
        </p:blipFill>
        <p:spPr>
          <a:xfrm>
            <a:off x="5740400" y="2796164"/>
            <a:ext cx="406400" cy="203200"/>
          </a:xfrm>
          <a:prstGeom prst="rect">
            <a:avLst/>
          </a:prstGeom>
        </p:spPr>
      </p:pic>
      <p:sp>
        <p:nvSpPr>
          <p:cNvPr id="11" name="Text 7"/>
          <p:cNvSpPr/>
          <p:nvPr/>
        </p:nvSpPr>
        <p:spPr>
          <a:xfrm>
            <a:off x="6305550" y="2618656"/>
            <a:ext cx="2180936" cy="558223"/>
          </a:xfrm>
          <a:prstGeom prst="roundRect">
            <a:avLst>
              <a:gd name="adj" fmla="val 12513"/>
            </a:avLst>
          </a:prstGeom>
          <a:solidFill>
            <a:srgbClr val="E5F5EE"/>
          </a:solidFill>
          <a:ln w="12700">
            <a:solidFill>
              <a:srgbClr val="1BAF7A"/>
            </a:solidFill>
            <a:prstDash val="solid"/>
          </a:ln>
        </p:spPr>
        <p:txBody>
          <a:bodyPr wrap="square" lIns="106773" tIns="134828" rIns="106772" bIns="109428" rtlCol="0" anchor="t">
            <a:normAutofit/>
          </a:bodyPr>
          <a:lstStyle/>
          <a:p>
            <a:pPr marL="0" indent="0" algn="ctr">
              <a:lnSpc>
                <a:spcPts val="1950"/>
              </a:lnSpc>
              <a:buNone/>
            </a:pPr>
            <a:r>
              <a:rPr lang="en-US" sz="1500" dirty="0">
                <a:solidFill>
                  <a:srgbClr val="141412"/>
                </a:solidFill>
                <a:latin typeface="Libre Franklin" pitchFamily="34" charset="0"/>
                <a:ea typeface="Libre Franklin" pitchFamily="34" charset="-122"/>
                <a:cs typeface="Libre Franklin" pitchFamily="34" charset="-120"/>
              </a:rPr>
              <a:t>Producto de rangos</a:t>
            </a:r>
            <a:endParaRPr lang="en-US" sz="1500" dirty="0"/>
          </a:p>
        </p:txBody>
      </p:sp>
      <p:pic>
        <p:nvPicPr>
          <p:cNvPr id="12" name="Image 2" descr="arrow-right"/>
          <p:cNvPicPr>
            <a:picLocks noChangeAspect="1"/>
          </p:cNvPicPr>
          <p:nvPr/>
        </p:nvPicPr>
        <p:blipFill>
          <a:blip r:embed="rId3"/>
          <a:srcRect/>
          <a:stretch/>
        </p:blipFill>
        <p:spPr>
          <a:xfrm>
            <a:off x="8645237" y="2796164"/>
            <a:ext cx="406400" cy="203200"/>
          </a:xfrm>
          <a:prstGeom prst="rect">
            <a:avLst/>
          </a:prstGeom>
        </p:spPr>
      </p:pic>
      <p:sp>
        <p:nvSpPr>
          <p:cNvPr id="13" name="Text 8"/>
          <p:cNvSpPr/>
          <p:nvPr/>
        </p:nvSpPr>
        <p:spPr>
          <a:xfrm>
            <a:off x="9204037" y="2621539"/>
            <a:ext cx="2175164" cy="552450"/>
          </a:xfrm>
          <a:prstGeom prst="roundRect">
            <a:avLst>
              <a:gd name="adj" fmla="val 13793"/>
            </a:avLst>
          </a:prstGeom>
          <a:solidFill>
            <a:srgbClr val="141412"/>
          </a:solidFill>
          <a:ln/>
        </p:spPr>
        <p:txBody>
          <a:bodyPr wrap="square" lIns="102026" tIns="130082" rIns="102026" bIns="104682" rtlCol="0" anchor="t">
            <a:normAutofit/>
          </a:bodyPr>
          <a:lstStyle/>
          <a:p>
            <a:pPr marL="0" indent="0" algn="ctr">
              <a:lnSpc>
                <a:spcPts val="1950"/>
              </a:lnSpc>
              <a:buNone/>
            </a:pPr>
            <a:r>
              <a:rPr lang="en-US" sz="1500" dirty="0">
                <a:solidFill>
                  <a:srgbClr val="FFFFFF"/>
                </a:solidFill>
                <a:latin typeface="Libre Franklin" pitchFamily="34" charset="0"/>
                <a:ea typeface="Libre Franklin" pitchFamily="34" charset="-122"/>
                <a:cs typeface="Libre Franklin" pitchFamily="34" charset="-120"/>
              </a:rPr>
              <a:t>Periodo P₀</a:t>
            </a:r>
            <a:endParaRPr lang="en-US" sz="1500" dirty="0"/>
          </a:p>
        </p:txBody>
      </p:sp>
      <p:sp>
        <p:nvSpPr>
          <p:cNvPr id="14" name="Text 9"/>
          <p:cNvSpPr/>
          <p:nvPr/>
        </p:nvSpPr>
        <p:spPr>
          <a:xfrm>
            <a:off x="812800" y="397539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F7A2E"/>
                </a:solidFill>
                <a:latin typeface="Libre Franklin" pitchFamily="34" charset="0"/>
                <a:ea typeface="Libre Franklin" pitchFamily="34" charset="-122"/>
                <a:cs typeface="Libre Franklin" pitchFamily="34" charset="-120"/>
              </a:rPr>
              <a:t>Etapa 2 · Refinamiento por subarmónicos</a:t>
            </a:r>
            <a:endParaRPr lang="en-US" sz="1500" dirty="0"/>
          </a:p>
        </p:txBody>
      </p:sp>
      <p:sp>
        <p:nvSpPr>
          <p:cNvPr id="15" name="Text 10"/>
          <p:cNvSpPr/>
          <p:nvPr/>
        </p:nvSpPr>
        <p:spPr>
          <a:xfrm>
            <a:off x="812800" y="4502150"/>
            <a:ext cx="2098964" cy="552450"/>
          </a:xfrm>
          <a:prstGeom prst="roundRect">
            <a:avLst>
              <a:gd name="adj" fmla="val 13793"/>
            </a:avLst>
          </a:prstGeom>
          <a:solidFill>
            <a:srgbClr val="141412"/>
          </a:solidFill>
          <a:ln/>
        </p:spPr>
        <p:txBody>
          <a:bodyPr wrap="square" lIns="103169" tIns="130082" rIns="103169" bIns="104682" rtlCol="0" anchor="t">
            <a:normAutofit/>
          </a:bodyPr>
          <a:lstStyle/>
          <a:p>
            <a:pPr marL="0" indent="0" algn="ctr">
              <a:lnSpc>
                <a:spcPts val="1950"/>
              </a:lnSpc>
              <a:buNone/>
            </a:pPr>
            <a:r>
              <a:rPr lang="en-US" sz="1500" dirty="0">
                <a:solidFill>
                  <a:srgbClr val="FFFFFF"/>
                </a:solidFill>
                <a:latin typeface="Libre Franklin" pitchFamily="34" charset="0"/>
                <a:ea typeface="Libre Franklin" pitchFamily="34" charset="-122"/>
                <a:cs typeface="Libre Franklin" pitchFamily="34" charset="-120"/>
              </a:rPr>
              <a:t>Periodo P₀</a:t>
            </a:r>
            <a:endParaRPr lang="en-US" sz="1500" dirty="0"/>
          </a:p>
        </p:txBody>
      </p:sp>
      <p:pic>
        <p:nvPicPr>
          <p:cNvPr id="16" name="Image 3" descr="arrow-right"/>
          <p:cNvPicPr>
            <a:picLocks noChangeAspect="1"/>
          </p:cNvPicPr>
          <p:nvPr/>
        </p:nvPicPr>
        <p:blipFill>
          <a:blip r:embed="rId3"/>
          <a:srcRect/>
          <a:stretch/>
        </p:blipFill>
        <p:spPr>
          <a:xfrm>
            <a:off x="3064164" y="4676775"/>
            <a:ext cx="406400" cy="203200"/>
          </a:xfrm>
          <a:prstGeom prst="rect">
            <a:avLst/>
          </a:prstGeom>
        </p:spPr>
      </p:pic>
      <p:sp>
        <p:nvSpPr>
          <p:cNvPr id="17" name="Text 11"/>
          <p:cNvSpPr/>
          <p:nvPr/>
        </p:nvSpPr>
        <p:spPr>
          <a:xfrm>
            <a:off x="3629314" y="4375441"/>
            <a:ext cx="2104736" cy="805873"/>
          </a:xfrm>
          <a:prstGeom prst="roundRect">
            <a:avLst>
              <a:gd name="adj" fmla="val 8668"/>
            </a:avLst>
          </a:prstGeom>
          <a:solidFill>
            <a:srgbClr val="F6F6F2"/>
          </a:solidFill>
          <a:ln w="12700">
            <a:solidFill>
              <a:srgbClr val="C9C8C1"/>
            </a:solidFill>
            <a:prstDash val="solid"/>
          </a:ln>
        </p:spPr>
        <p:txBody>
          <a:bodyPr wrap="square" lIns="107915" tIns="134828" rIns="107916" bIns="109428" rtlCol="0" anchor="t">
            <a:normAutofit/>
          </a:bodyPr>
          <a:lstStyle/>
          <a:p>
            <a:pPr marL="0" indent="0" algn="ctr">
              <a:lnSpc>
                <a:spcPts val="1950"/>
              </a:lnSpc>
              <a:buNone/>
            </a:pPr>
            <a:r>
              <a:rPr lang="en-US" sz="1500" dirty="0">
                <a:solidFill>
                  <a:srgbClr val="141412"/>
                </a:solidFill>
                <a:latin typeface="Libre Franklin" pitchFamily="34" charset="0"/>
                <a:ea typeface="Libre Franklin" pitchFamily="34" charset="-122"/>
                <a:cs typeface="Libre Franklin" pitchFamily="34" charset="-120"/>
              </a:rPr>
              <a:t>Candidatos nP₀, n = 1, …, 6</a:t>
            </a:r>
            <a:endParaRPr lang="en-US" sz="1500" dirty="0"/>
          </a:p>
        </p:txBody>
      </p:sp>
      <p:pic>
        <p:nvPicPr>
          <p:cNvPr id="18" name="Image 4" descr="arrow-right"/>
          <p:cNvPicPr>
            <a:picLocks noChangeAspect="1"/>
          </p:cNvPicPr>
          <p:nvPr/>
        </p:nvPicPr>
        <p:blipFill>
          <a:blip r:embed="rId3"/>
          <a:srcRect/>
          <a:stretch/>
        </p:blipFill>
        <p:spPr>
          <a:xfrm>
            <a:off x="5892800" y="4676775"/>
            <a:ext cx="406400" cy="203200"/>
          </a:xfrm>
          <a:prstGeom prst="rect">
            <a:avLst/>
          </a:prstGeom>
        </p:spPr>
      </p:pic>
      <p:sp>
        <p:nvSpPr>
          <p:cNvPr id="19" name="Text 12"/>
          <p:cNvSpPr/>
          <p:nvPr/>
        </p:nvSpPr>
        <p:spPr>
          <a:xfrm>
            <a:off x="6457950" y="4375441"/>
            <a:ext cx="2104736" cy="805873"/>
          </a:xfrm>
          <a:prstGeom prst="roundRect">
            <a:avLst>
              <a:gd name="adj" fmla="val 8668"/>
            </a:avLst>
          </a:prstGeom>
          <a:solidFill>
            <a:srgbClr val="F6F6F2"/>
          </a:solidFill>
          <a:ln w="12700">
            <a:solidFill>
              <a:srgbClr val="C9C8C1"/>
            </a:solidFill>
            <a:prstDash val="solid"/>
          </a:ln>
        </p:spPr>
        <p:txBody>
          <a:bodyPr wrap="square" lIns="107916" tIns="134828" rIns="107915" bIns="109428" rtlCol="0" anchor="t">
            <a:normAutofit/>
          </a:bodyPr>
          <a:lstStyle/>
          <a:p>
            <a:pPr marL="0" indent="0" algn="ctr">
              <a:lnSpc>
                <a:spcPts val="1950"/>
              </a:lnSpc>
              <a:buNone/>
            </a:pPr>
            <a:r>
              <a:rPr lang="en-US" sz="1500" dirty="0">
                <a:solidFill>
                  <a:srgbClr val="141412"/>
                </a:solidFill>
                <a:latin typeface="Libre Franklin" pitchFamily="34" charset="0"/>
                <a:ea typeface="Libre Franklin" pitchFamily="34" charset="-122"/>
                <a:cs typeface="Libre Franklin" pitchFamily="34" charset="-120"/>
              </a:rPr>
              <a:t>BIC de series de Fourier</a:t>
            </a:r>
            <a:endParaRPr lang="en-US" sz="1500" dirty="0"/>
          </a:p>
        </p:txBody>
      </p:sp>
      <p:pic>
        <p:nvPicPr>
          <p:cNvPr id="20" name="Image 5" descr="arrow-right"/>
          <p:cNvPicPr>
            <a:picLocks noChangeAspect="1"/>
          </p:cNvPicPr>
          <p:nvPr/>
        </p:nvPicPr>
        <p:blipFill>
          <a:blip r:embed="rId3"/>
          <a:srcRect/>
          <a:stretch/>
        </p:blipFill>
        <p:spPr>
          <a:xfrm>
            <a:off x="8721437" y="4676775"/>
            <a:ext cx="406400" cy="203200"/>
          </a:xfrm>
          <a:prstGeom prst="rect">
            <a:avLst/>
          </a:prstGeom>
        </p:spPr>
      </p:pic>
      <p:sp>
        <p:nvSpPr>
          <p:cNvPr id="21" name="Text 13"/>
          <p:cNvSpPr/>
          <p:nvPr/>
        </p:nvSpPr>
        <p:spPr>
          <a:xfrm>
            <a:off x="9280237" y="4502150"/>
            <a:ext cx="2098964" cy="552450"/>
          </a:xfrm>
          <a:prstGeom prst="roundRect">
            <a:avLst>
              <a:gd name="adj" fmla="val 13793"/>
            </a:avLst>
          </a:prstGeom>
          <a:solidFill>
            <a:srgbClr val="5E7E3E"/>
          </a:solidFill>
          <a:ln/>
        </p:spPr>
        <p:txBody>
          <a:bodyPr wrap="square" lIns="103169" tIns="130082" rIns="103169" bIns="104682" rtlCol="0" anchor="t">
            <a:normAutofit/>
          </a:bodyPr>
          <a:lstStyle/>
          <a:p>
            <a:pPr marL="0" indent="0" algn="ctr">
              <a:lnSpc>
                <a:spcPts val="1950"/>
              </a:lnSpc>
              <a:buNone/>
            </a:pPr>
            <a:r>
              <a:rPr lang="en-US" sz="1500" dirty="0">
                <a:solidFill>
                  <a:srgbClr val="FFFFFF"/>
                </a:solidFill>
                <a:latin typeface="Libre Franklin" pitchFamily="34" charset="0"/>
                <a:ea typeface="Libre Franklin" pitchFamily="34" charset="-122"/>
                <a:cs typeface="Libre Franklin" pitchFamily="34" charset="-120"/>
              </a:rPr>
              <a:t>Periodo final</a:t>
            </a:r>
            <a:endParaRPr lang="en-US" sz="1500" dirty="0"/>
          </a:p>
        </p:txBody>
      </p:sp>
      <p:sp>
        <p:nvSpPr>
          <p:cNvPr id="22" name="Text 14"/>
          <p:cNvSpPr/>
          <p:nvPr/>
        </p:nvSpPr>
        <p:spPr>
          <a:xfrm>
            <a:off x="654304" y="5543265"/>
            <a:ext cx="10883392"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A4A45"/>
                </a:solidFill>
                <a:latin typeface="Libre Franklin" pitchFamily="34" charset="0"/>
                <a:ea typeface="Libre Franklin" pitchFamily="34" charset="-122"/>
                <a:cs typeface="Libre Franklin" pitchFamily="34" charset="-120"/>
              </a:rPr>
              <a:t>Ningún paso usa el periodo catalogado.</a:t>
            </a:r>
            <a:endParaRPr lang="en-US" sz="1500" dirty="0"/>
          </a:p>
        </p:txBody>
      </p:sp>
      <p:pic>
        <p:nvPicPr>
          <p:cNvPr id="23" name="Image 6" descr="Settings"/>
          <p:cNvPicPr>
            <a:picLocks noChangeAspect="1"/>
          </p:cNvPicPr>
          <p:nvPr/>
        </p:nvPicPr>
        <p:blipFill>
          <a:blip r:embed="rId4"/>
          <a:srcRect/>
          <a:stretch/>
        </p:blipFill>
        <p:spPr>
          <a:xfrm>
            <a:off x="812800" y="6285204"/>
            <a:ext cx="203200" cy="203200"/>
          </a:xfrm>
          <a:prstGeom prst="rect">
            <a:avLst/>
          </a:prstGeom>
        </p:spPr>
      </p:pic>
      <p:sp>
        <p:nvSpPr>
          <p:cNvPr id="24" name="Text 15"/>
          <p:cNvSpPr/>
          <p:nvPr/>
        </p:nvSpPr>
        <p:spPr>
          <a:xfrm>
            <a:off x="1092200" y="6280150"/>
            <a:ext cx="1228148"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3 · Metodología ·</a:t>
            </a:r>
            <a:endParaRPr lang="en-US" sz="1200" dirty="0"/>
          </a:p>
        </p:txBody>
      </p:sp>
      <p:sp>
        <p:nvSpPr>
          <p:cNvPr id="25" name="Text 16"/>
          <p:cNvSpPr/>
          <p:nvPr/>
        </p:nvSpPr>
        <p:spPr>
          <a:xfrm>
            <a:off x="2320348" y="6271276"/>
            <a:ext cx="5632046"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2E2A"/>
                </a:solidFill>
                <a:latin typeface="Libre Franklin" pitchFamily="34" charset="0"/>
                <a:ea typeface="Libre Franklin" pitchFamily="34" charset="-122"/>
                <a:cs typeface="Libre Franklin" pitchFamily="34" charset="-120"/>
              </a:rPr>
              <a:t>Lomb–Scargle generalizado: Zechmeister &amp; Kürster (2009)</a:t>
            </a:r>
            <a:endParaRPr lang="en-US" sz="1300" dirty="0"/>
          </a:p>
        </p:txBody>
      </p:sp>
      <p:sp>
        <p:nvSpPr>
          <p:cNvPr id="26" name="Text 17"/>
          <p:cNvSpPr/>
          <p:nvPr/>
        </p:nvSpPr>
        <p:spPr>
          <a:xfrm>
            <a:off x="11152621" y="6280150"/>
            <a:ext cx="22658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En la etapa 1, el producto de rangos combina ambos criterios sin pesos libres</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pic>
        <p:nvPicPr>
          <p:cNvPr id="5" name="Image 0" descr="Periodogramas de Lomb–Scargle, entropía condicional y producto de rangos de OGLE-LMC-ECL-38031, con las curvas plegadas: Lomb–Scargle da un plegado sin estructura y el producto de rangos recupera los dos eclipses"/>
          <p:cNvPicPr>
            <a:picLocks noChangeAspect="1"/>
          </p:cNvPicPr>
          <p:nvPr/>
        </p:nvPicPr>
        <p:blipFill>
          <a:blip r:embed="rId3"/>
          <a:srcRect t="-1" b="-1"/>
          <a:stretch/>
        </p:blipFill>
        <p:spPr>
          <a:xfrm>
            <a:off x="812800" y="1998954"/>
            <a:ext cx="7302500" cy="3594100"/>
          </a:xfrm>
          <a:prstGeom prst="rect">
            <a:avLst/>
          </a:prstGeom>
        </p:spPr>
      </p:pic>
      <p:sp>
        <p:nvSpPr>
          <p:cNvPr id="6" name="Text 3"/>
          <p:cNvSpPr/>
          <p:nvPr/>
        </p:nvSpPr>
        <p:spPr>
          <a:xfrm>
            <a:off x="8420100" y="2683601"/>
            <a:ext cx="2959100" cy="476250"/>
          </a:xfrm>
          <a:prstGeom prst="roundRect">
            <a:avLst>
              <a:gd name="adj" fmla="val 10667"/>
            </a:avLst>
          </a:prstGeom>
          <a:solidFill>
            <a:srgbClr val="F6F6F2"/>
          </a:solidFill>
          <a:ln/>
        </p:spPr>
        <p:txBody>
          <a:bodyPr wrap="square" lIns="124821" tIns="99421" rIns="44430" bIns="74021" rtlCol="0" anchor="t">
            <a:normAutofit/>
          </a:bodyPr>
          <a:lstStyle/>
          <a:p>
            <a:pPr marL="0" indent="0" algn="l">
              <a:lnSpc>
                <a:spcPts val="1950"/>
              </a:lnSpc>
              <a:buNone/>
            </a:pPr>
            <a:r>
              <a:rPr lang="en-US" sz="1500" b="1" dirty="0">
                <a:solidFill>
                  <a:srgbClr val="141412"/>
                </a:solidFill>
                <a:latin typeface="Libre Franklin" pitchFamily="34" charset="0"/>
                <a:ea typeface="Libre Franklin" pitchFamily="34" charset="-122"/>
                <a:cs typeface="Libre Franklin" pitchFamily="34" charset="-120"/>
              </a:rPr>
              <a:t>H(m|φ) = H(φ, m) − H(φ)</a:t>
            </a:r>
            <a:endParaRPr lang="en-US" sz="1500" dirty="0"/>
          </a:p>
        </p:txBody>
      </p:sp>
      <p:sp>
        <p:nvSpPr>
          <p:cNvPr id="7" name="Text 4"/>
          <p:cNvSpPr/>
          <p:nvPr/>
        </p:nvSpPr>
        <p:spPr>
          <a:xfrm>
            <a:off x="8420100" y="3286851"/>
            <a:ext cx="3047873"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A45"/>
                </a:solidFill>
                <a:latin typeface="Libre Franklin" pitchFamily="34" charset="0"/>
                <a:ea typeface="Libre Franklin" pitchFamily="34" charset="-122"/>
                <a:cs typeface="Libre Franklin" pitchFamily="34" charset="-120"/>
              </a:rPr>
              <a:t>Entropía condicional: descuenta la cobertura en fase.</a:t>
            </a:r>
            <a:endParaRPr lang="en-US" sz="1300" dirty="0"/>
          </a:p>
        </p:txBody>
      </p:sp>
      <p:sp>
        <p:nvSpPr>
          <p:cNvPr id="8" name="Text 5"/>
          <p:cNvSpPr/>
          <p:nvPr/>
        </p:nvSpPr>
        <p:spPr>
          <a:xfrm>
            <a:off x="8420100" y="3859504"/>
            <a:ext cx="2959100" cy="476250"/>
          </a:xfrm>
          <a:prstGeom prst="roundRect">
            <a:avLst>
              <a:gd name="adj" fmla="val 10667"/>
            </a:avLst>
          </a:prstGeom>
          <a:solidFill>
            <a:srgbClr val="F6F6F2"/>
          </a:solidFill>
          <a:ln/>
        </p:spPr>
        <p:txBody>
          <a:bodyPr wrap="square" lIns="124821" tIns="99421" rIns="44430" bIns="74021" rtlCol="0" anchor="t">
            <a:normAutofit/>
          </a:bodyPr>
          <a:lstStyle/>
          <a:p>
            <a:pPr marL="0" indent="0" algn="l">
              <a:lnSpc>
                <a:spcPts val="1950"/>
              </a:lnSpc>
              <a:buNone/>
            </a:pPr>
            <a:r>
              <a:rPr lang="en-US" sz="1500" b="1" dirty="0">
                <a:solidFill>
                  <a:srgbClr val="141412"/>
                </a:solidFill>
                <a:latin typeface="Libre Franklin" pitchFamily="34" charset="0"/>
                <a:ea typeface="Libre Franklin" pitchFamily="34" charset="-122"/>
                <a:cs typeface="Libre Franklin" pitchFamily="34" charset="-120"/>
              </a:rPr>
              <a:t>R(f) = q</a:t>
            </a:r>
            <a:r>
              <a:rPr lang="en-US" sz="1500" b="1" dirty="0">
                <a:solidFill>
                  <a:srgbClr val="2A78D6"/>
                </a:solidFill>
                <a:latin typeface="Libre Franklin" pitchFamily="34" charset="0"/>
                <a:ea typeface="Libre Franklin" pitchFamily="34" charset="-122"/>
                <a:cs typeface="Libre Franklin" pitchFamily="34" charset="-120"/>
              </a:rPr>
              <a:t>LS</a:t>
            </a:r>
            <a:r>
              <a:rPr lang="en-US" sz="1500" b="1" dirty="0">
                <a:solidFill>
                  <a:srgbClr val="141412"/>
                </a:solidFill>
                <a:latin typeface="Libre Franklin" pitchFamily="34" charset="0"/>
                <a:ea typeface="Libre Franklin" pitchFamily="34" charset="-122"/>
                <a:cs typeface="Libre Franklin" pitchFamily="34" charset="-120"/>
              </a:rPr>
              <a:t>(f) · q</a:t>
            </a:r>
            <a:r>
              <a:rPr lang="en-US" sz="1500" b="1" dirty="0">
                <a:solidFill>
                  <a:srgbClr val="EB6834"/>
                </a:solidFill>
                <a:latin typeface="Libre Franklin" pitchFamily="34" charset="0"/>
                <a:ea typeface="Libre Franklin" pitchFamily="34" charset="-122"/>
                <a:cs typeface="Libre Franklin" pitchFamily="34" charset="-120"/>
              </a:rPr>
              <a:t>H</a:t>
            </a:r>
            <a:r>
              <a:rPr lang="en-US" sz="1500" b="1" dirty="0">
                <a:solidFill>
                  <a:srgbClr val="141412"/>
                </a:solidFill>
                <a:latin typeface="Libre Franklin" pitchFamily="34" charset="0"/>
                <a:ea typeface="Libre Franklin" pitchFamily="34" charset="-122"/>
                <a:cs typeface="Libre Franklin" pitchFamily="34" charset="-120"/>
              </a:rPr>
              <a:t>(f)</a:t>
            </a:r>
            <a:endParaRPr lang="en-US" sz="1500" dirty="0"/>
          </a:p>
        </p:txBody>
      </p:sp>
      <p:sp>
        <p:nvSpPr>
          <p:cNvPr id="9" name="Text 6"/>
          <p:cNvSpPr/>
          <p:nvPr/>
        </p:nvSpPr>
        <p:spPr>
          <a:xfrm>
            <a:off x="8420100" y="4462754"/>
            <a:ext cx="3047873"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A45"/>
                </a:solidFill>
                <a:latin typeface="Libre Franklin" pitchFamily="34" charset="0"/>
                <a:ea typeface="Libre Franklin" pitchFamily="34" charset="-122"/>
                <a:cs typeface="Libre Franklin" pitchFamily="34" charset="-120"/>
              </a:rPr>
              <a:t>q: percentil de cada criterio; R alto exige ser bueno en ambos.</a:t>
            </a:r>
            <a:endParaRPr lang="en-US" sz="1300" dirty="0"/>
          </a:p>
        </p:txBody>
      </p:sp>
      <p:pic>
        <p:nvPicPr>
          <p:cNvPr id="10" name="Image 1" descr="Settings"/>
          <p:cNvPicPr>
            <a:picLocks noChangeAspect="1"/>
          </p:cNvPicPr>
          <p:nvPr/>
        </p:nvPicPr>
        <p:blipFill>
          <a:blip r:embed="rId4"/>
          <a:srcRect/>
          <a:stretch/>
        </p:blipFill>
        <p:spPr>
          <a:xfrm>
            <a:off x="812800" y="6285204"/>
            <a:ext cx="203200" cy="203200"/>
          </a:xfrm>
          <a:prstGeom prst="rect">
            <a:avLst/>
          </a:prstGeom>
        </p:spPr>
      </p:pic>
      <p:sp>
        <p:nvSpPr>
          <p:cNvPr id="11" name="Text 7"/>
          <p:cNvSpPr/>
          <p:nvPr/>
        </p:nvSpPr>
        <p:spPr>
          <a:xfrm>
            <a:off x="1092200" y="6280150"/>
            <a:ext cx="1228148"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3 · Metodología ·</a:t>
            </a:r>
            <a:endParaRPr lang="en-US" sz="1200" dirty="0"/>
          </a:p>
        </p:txBody>
      </p:sp>
      <p:sp>
        <p:nvSpPr>
          <p:cNvPr id="12" name="Text 8"/>
          <p:cNvSpPr/>
          <p:nvPr/>
        </p:nvSpPr>
        <p:spPr>
          <a:xfrm>
            <a:off x="2320348" y="6271276"/>
            <a:ext cx="5253990"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2E2A"/>
                </a:solidFill>
                <a:latin typeface="Libre Franklin" pitchFamily="34" charset="0"/>
                <a:ea typeface="Libre Franklin" pitchFamily="34" charset="-122"/>
                <a:cs typeface="Libre Franklin" pitchFamily="34" charset="-120"/>
              </a:rPr>
              <a:t>Graham et al. (2013); adaptado de Breitling et al. (2004)</a:t>
            </a:r>
            <a:endParaRPr lang="en-US" sz="1300" dirty="0"/>
          </a:p>
        </p:txBody>
      </p:sp>
      <p:sp>
        <p:nvSpPr>
          <p:cNvPr id="13" name="Text 9"/>
          <p:cNvSpPr/>
          <p:nvPr/>
        </p:nvSpPr>
        <p:spPr>
          <a:xfrm>
            <a:off x="11186608" y="6280150"/>
            <a:ext cx="192593"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El BIC sobre series de Fourier anidadas decide cuántas veces multiplicar P₀</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pic>
        <p:nvPicPr>
          <p:cNvPr id="5" name="Image 0" descr="Diferencia de BIC respecto de n igual a 2 para OGLE-LMC-ECL-14782, con el mínimo en n igual a 6, y curvas plegadas en 2P0 y en 6P0"/>
          <p:cNvPicPr>
            <a:picLocks noChangeAspect="1"/>
          </p:cNvPicPr>
          <p:nvPr/>
        </p:nvPicPr>
        <p:blipFill>
          <a:blip r:embed="rId3"/>
          <a:srcRect l="-1" r="-1"/>
          <a:stretch/>
        </p:blipFill>
        <p:spPr>
          <a:xfrm>
            <a:off x="812800" y="1843379"/>
            <a:ext cx="5715000" cy="3905250"/>
          </a:xfrm>
          <a:prstGeom prst="rect">
            <a:avLst/>
          </a:prstGeom>
        </p:spPr>
      </p:pic>
      <p:sp>
        <p:nvSpPr>
          <p:cNvPr id="6" name="Shape 3"/>
          <p:cNvSpPr/>
          <p:nvPr/>
        </p:nvSpPr>
        <p:spPr>
          <a:xfrm>
            <a:off x="6883400" y="2613676"/>
            <a:ext cx="4495800" cy="789926"/>
          </a:xfrm>
          <a:prstGeom prst="rect">
            <a:avLst/>
          </a:prstGeom>
          <a:solidFill>
            <a:srgbClr val="F6F6F2"/>
          </a:solidFill>
          <a:ln/>
        </p:spPr>
        <p:txBody>
          <a:bodyPr/>
          <a:lstStyle/>
          <a:p>
            <a:endParaRPr lang="es-CO"/>
          </a:p>
        </p:txBody>
      </p:sp>
      <p:sp>
        <p:nvSpPr>
          <p:cNvPr id="7" name="Shape 4"/>
          <p:cNvSpPr/>
          <p:nvPr/>
        </p:nvSpPr>
        <p:spPr>
          <a:xfrm>
            <a:off x="6915150" y="2613676"/>
            <a:ext cx="0" cy="789926"/>
          </a:xfrm>
          <a:prstGeom prst="line">
            <a:avLst/>
          </a:prstGeom>
          <a:noFill/>
          <a:ln w="63500">
            <a:solidFill>
              <a:srgbClr val="7BA654"/>
            </a:solidFill>
            <a:prstDash val="solid"/>
          </a:ln>
        </p:spPr>
        <p:txBody>
          <a:bodyPr/>
          <a:lstStyle/>
          <a:p>
            <a:endParaRPr lang="es-CO"/>
          </a:p>
        </p:txBody>
      </p:sp>
      <p:sp>
        <p:nvSpPr>
          <p:cNvPr id="8" name="Text 5"/>
          <p:cNvSpPr/>
          <p:nvPr/>
        </p:nvSpPr>
        <p:spPr>
          <a:xfrm>
            <a:off x="7121237" y="2740676"/>
            <a:ext cx="420256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1412"/>
                </a:solidFill>
                <a:latin typeface="Libre Franklin" pitchFamily="34" charset="0"/>
                <a:ea typeface="Libre Franklin" pitchFamily="34" charset="-122"/>
                <a:cs typeface="Libre Franklin" pitchFamily="34" charset="-120"/>
              </a:rPr>
              <a:t>Por defecto, n = 2</a:t>
            </a:r>
            <a:endParaRPr lang="en-US" sz="1500" dirty="0"/>
          </a:p>
        </p:txBody>
      </p:sp>
      <p:sp>
        <p:nvSpPr>
          <p:cNvPr id="9" name="Text 6"/>
          <p:cNvSpPr/>
          <p:nvPr/>
        </p:nvSpPr>
        <p:spPr>
          <a:xfrm>
            <a:off x="7121237" y="3045476"/>
            <a:ext cx="4202569" cy="256526"/>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4A45"/>
                </a:solidFill>
                <a:latin typeface="Libre Franklin" pitchFamily="34" charset="0"/>
                <a:ea typeface="Libre Franklin" pitchFamily="34" charset="-122"/>
                <a:cs typeface="Libre Franklin" pitchFamily="34" charset="-120"/>
              </a:rPr>
              <a:t>Se supone que hay dos eclipses por órbita.</a:t>
            </a:r>
            <a:endParaRPr lang="en-US" sz="1400" dirty="0"/>
          </a:p>
        </p:txBody>
      </p:sp>
      <p:sp>
        <p:nvSpPr>
          <p:cNvPr id="10" name="Shape 7"/>
          <p:cNvSpPr/>
          <p:nvPr/>
        </p:nvSpPr>
        <p:spPr>
          <a:xfrm>
            <a:off x="6883400" y="3556000"/>
            <a:ext cx="4495800" cy="789926"/>
          </a:xfrm>
          <a:prstGeom prst="rect">
            <a:avLst/>
          </a:prstGeom>
          <a:solidFill>
            <a:srgbClr val="F6F6F2"/>
          </a:solidFill>
          <a:ln/>
        </p:spPr>
        <p:txBody>
          <a:bodyPr/>
          <a:lstStyle/>
          <a:p>
            <a:endParaRPr lang="es-CO"/>
          </a:p>
        </p:txBody>
      </p:sp>
      <p:sp>
        <p:nvSpPr>
          <p:cNvPr id="11" name="Shape 8"/>
          <p:cNvSpPr/>
          <p:nvPr/>
        </p:nvSpPr>
        <p:spPr>
          <a:xfrm>
            <a:off x="6915150" y="3556000"/>
            <a:ext cx="0" cy="789926"/>
          </a:xfrm>
          <a:prstGeom prst="line">
            <a:avLst/>
          </a:prstGeom>
          <a:noFill/>
          <a:ln w="63500">
            <a:solidFill>
              <a:srgbClr val="7BA654"/>
            </a:solidFill>
            <a:prstDash val="solid"/>
          </a:ln>
        </p:spPr>
        <p:txBody>
          <a:bodyPr/>
          <a:lstStyle/>
          <a:p>
            <a:endParaRPr lang="es-CO"/>
          </a:p>
        </p:txBody>
      </p:sp>
      <p:sp>
        <p:nvSpPr>
          <p:cNvPr id="12" name="Text 9"/>
          <p:cNvSpPr/>
          <p:nvPr/>
        </p:nvSpPr>
        <p:spPr>
          <a:xfrm>
            <a:off x="7121237" y="3683000"/>
            <a:ext cx="420256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1412"/>
                </a:solidFill>
                <a:latin typeface="Libre Franklin" pitchFamily="34" charset="0"/>
                <a:ea typeface="Libre Franklin" pitchFamily="34" charset="-122"/>
                <a:cs typeface="Libre Franklin" pitchFamily="34" charset="-120"/>
              </a:rPr>
              <a:t>n = 3, …, 6 solo si mejora el BIC de n = 2</a:t>
            </a:r>
            <a:endParaRPr lang="en-US" sz="1500" dirty="0"/>
          </a:p>
        </p:txBody>
      </p:sp>
      <p:sp>
        <p:nvSpPr>
          <p:cNvPr id="13" name="Text 10"/>
          <p:cNvSpPr/>
          <p:nvPr/>
        </p:nvSpPr>
        <p:spPr>
          <a:xfrm>
            <a:off x="7121237" y="3987800"/>
            <a:ext cx="4202569" cy="256526"/>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4A45"/>
                </a:solidFill>
                <a:latin typeface="Libre Franklin" pitchFamily="34" charset="0"/>
                <a:ea typeface="Libre Franklin" pitchFamily="34" charset="-122"/>
                <a:cs typeface="Libre Franklin" pitchFamily="34" charset="-120"/>
              </a:rPr>
              <a:t>Cada modelo usa nH₀ armónicos, con H₀ = 4.</a:t>
            </a:r>
            <a:endParaRPr lang="en-US" sz="1400" dirty="0"/>
          </a:p>
        </p:txBody>
      </p:sp>
      <p:sp>
        <p:nvSpPr>
          <p:cNvPr id="14" name="Text 11"/>
          <p:cNvSpPr/>
          <p:nvPr/>
        </p:nvSpPr>
        <p:spPr>
          <a:xfrm>
            <a:off x="6883400" y="4498330"/>
            <a:ext cx="4630674" cy="50540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Duplicar el periodo de Lomb–Scargle en binarias tiene precedente en </a:t>
            </a:r>
            <a:r>
              <a:rPr lang="en-US" sz="1400" b="1" dirty="0">
                <a:solidFill>
                  <a:srgbClr val="2E2E2A"/>
                </a:solidFill>
                <a:latin typeface="Libre Franklin" pitchFamily="34" charset="0"/>
                <a:ea typeface="Libre Franklin" pitchFamily="34" charset="-122"/>
                <a:cs typeface="Libre Franklin" pitchFamily="34" charset="-120"/>
              </a:rPr>
              <a:t>Dubath et al. (2011)</a:t>
            </a:r>
            <a:r>
              <a:rPr lang="en-US" sz="1400" dirty="0">
                <a:solidFill>
                  <a:srgbClr val="2E2E2A"/>
                </a:solidFill>
                <a:latin typeface="Libre Franklin" pitchFamily="34" charset="0"/>
                <a:ea typeface="Libre Franklin" pitchFamily="34" charset="-122"/>
                <a:cs typeface="Libre Franklin" pitchFamily="34" charset="-120"/>
              </a:rPr>
              <a:t>.</a:t>
            </a:r>
            <a:endParaRPr lang="en-US" sz="1400" dirty="0"/>
          </a:p>
        </p:txBody>
      </p:sp>
      <p:pic>
        <p:nvPicPr>
          <p:cNvPr id="15" name="Image 1" descr="Settings"/>
          <p:cNvPicPr>
            <a:picLocks noChangeAspect="1"/>
          </p:cNvPicPr>
          <p:nvPr/>
        </p:nvPicPr>
        <p:blipFill>
          <a:blip r:embed="rId4"/>
          <a:srcRect/>
          <a:stretch/>
        </p:blipFill>
        <p:spPr>
          <a:xfrm>
            <a:off x="812800" y="6285204"/>
            <a:ext cx="203200" cy="203200"/>
          </a:xfrm>
          <a:prstGeom prst="rect">
            <a:avLst/>
          </a:prstGeom>
        </p:spPr>
      </p:pic>
      <p:sp>
        <p:nvSpPr>
          <p:cNvPr id="16" name="Text 12"/>
          <p:cNvSpPr/>
          <p:nvPr/>
        </p:nvSpPr>
        <p:spPr>
          <a:xfrm>
            <a:off x="1092200" y="6280150"/>
            <a:ext cx="1228148"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3 · Metodología ·</a:t>
            </a:r>
            <a:endParaRPr lang="en-US" sz="1200" dirty="0"/>
          </a:p>
        </p:txBody>
      </p:sp>
      <p:sp>
        <p:nvSpPr>
          <p:cNvPr id="17" name="Text 13"/>
          <p:cNvSpPr/>
          <p:nvPr/>
        </p:nvSpPr>
        <p:spPr>
          <a:xfrm>
            <a:off x="2320348" y="6271276"/>
            <a:ext cx="3395316"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2E2A"/>
                </a:solidFill>
                <a:latin typeface="Libre Franklin" pitchFamily="34" charset="0"/>
                <a:ea typeface="Libre Franklin" pitchFamily="34" charset="-122"/>
                <a:cs typeface="Libre Franklin" pitchFamily="34" charset="-120"/>
              </a:rPr>
              <a:t>Schwarz (1978); Dubath et al. (2011)</a:t>
            </a:r>
            <a:endParaRPr lang="en-US" sz="1300" dirty="0"/>
          </a:p>
        </p:txBody>
      </p:sp>
      <p:sp>
        <p:nvSpPr>
          <p:cNvPr id="18" name="Text 14"/>
          <p:cNvSpPr/>
          <p:nvPr/>
        </p:nvSpPr>
        <p:spPr>
          <a:xfrm>
            <a:off x="11166187" y="6280150"/>
            <a:ext cx="213014"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Lomb–Scargle domina en pulsantes; en binarias recupera la mitad del periodo</a:t>
            </a:r>
            <a:endParaRPr lang="en-US" sz="2600" dirty="0"/>
          </a:p>
        </p:txBody>
      </p:sp>
      <p:sp>
        <p:nvSpPr>
          <p:cNvPr id="4" name="Shape 2"/>
          <p:cNvSpPr/>
          <p:nvPr/>
        </p:nvSpPr>
        <p:spPr>
          <a:xfrm>
            <a:off x="812800" y="1521402"/>
            <a:ext cx="1524000" cy="76200"/>
          </a:xfrm>
          <a:prstGeom prst="rect">
            <a:avLst/>
          </a:prstGeom>
          <a:solidFill>
            <a:srgbClr val="5E7E3E"/>
          </a:solidFill>
          <a:ln/>
        </p:spPr>
        <p:txBody>
          <a:bodyPr/>
          <a:lstStyle/>
          <a:p>
            <a:endParaRPr lang="es-CO"/>
          </a:p>
        </p:txBody>
      </p:sp>
      <p:pic>
        <p:nvPicPr>
          <p:cNvPr id="5" name="Image 0" descr="Barras de aciertos directos por tipo: Cefeidas 98.2% Lomb–Scargle y 20.6% entropía; RR Lyrae 98.4% y 63.0%; binarias 3.8% y 14.6%"/>
          <p:cNvPicPr>
            <a:picLocks noChangeAspect="1"/>
          </p:cNvPicPr>
          <p:nvPr/>
        </p:nvPicPr>
        <p:blipFill>
          <a:blip r:embed="rId3"/>
          <a:srcRect l="-4" r="-4"/>
          <a:stretch/>
        </p:blipFill>
        <p:spPr>
          <a:xfrm>
            <a:off x="812800" y="2056104"/>
            <a:ext cx="7302500" cy="3479800"/>
          </a:xfrm>
          <a:prstGeom prst="rect">
            <a:avLst/>
          </a:prstGeom>
        </p:spPr>
      </p:pic>
      <p:sp>
        <p:nvSpPr>
          <p:cNvPr id="6" name="Shape 3"/>
          <p:cNvSpPr/>
          <p:nvPr/>
        </p:nvSpPr>
        <p:spPr>
          <a:xfrm>
            <a:off x="8420100" y="2832751"/>
            <a:ext cx="2959100" cy="1054028"/>
          </a:xfrm>
          <a:prstGeom prst="rect">
            <a:avLst/>
          </a:prstGeom>
          <a:solidFill>
            <a:srgbClr val="F6F6F2"/>
          </a:solidFill>
          <a:ln/>
        </p:spPr>
        <p:txBody>
          <a:bodyPr/>
          <a:lstStyle/>
          <a:p>
            <a:endParaRPr lang="es-CO"/>
          </a:p>
        </p:txBody>
      </p:sp>
      <p:sp>
        <p:nvSpPr>
          <p:cNvPr id="7" name="Shape 4"/>
          <p:cNvSpPr/>
          <p:nvPr/>
        </p:nvSpPr>
        <p:spPr>
          <a:xfrm>
            <a:off x="8451850" y="2832751"/>
            <a:ext cx="0" cy="1054028"/>
          </a:xfrm>
          <a:prstGeom prst="line">
            <a:avLst/>
          </a:prstGeom>
          <a:noFill/>
          <a:ln w="63500">
            <a:solidFill>
              <a:srgbClr val="2A78D6"/>
            </a:solidFill>
            <a:prstDash val="solid"/>
          </a:ln>
        </p:spPr>
        <p:txBody>
          <a:bodyPr/>
          <a:lstStyle/>
          <a:p>
            <a:endParaRPr lang="es-CO"/>
          </a:p>
        </p:txBody>
      </p:sp>
      <p:sp>
        <p:nvSpPr>
          <p:cNvPr id="8" name="Text 5"/>
          <p:cNvSpPr/>
          <p:nvPr/>
        </p:nvSpPr>
        <p:spPr>
          <a:xfrm>
            <a:off x="8657937" y="2972451"/>
            <a:ext cx="2619768"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141412"/>
                </a:solidFill>
                <a:latin typeface="Archivo Black" pitchFamily="34" charset="0"/>
                <a:ea typeface="Archivo Black" pitchFamily="34" charset="-122"/>
                <a:cs typeface="Archivo Black" pitchFamily="34" charset="-120"/>
              </a:rPr>
              <a:t>3.8% → 74.8%</a:t>
            </a:r>
            <a:endParaRPr lang="en-US" sz="2200" dirty="0"/>
          </a:p>
        </p:txBody>
      </p:sp>
      <p:sp>
        <p:nvSpPr>
          <p:cNvPr id="9" name="Text 6"/>
          <p:cNvSpPr/>
          <p:nvPr/>
        </p:nvSpPr>
        <p:spPr>
          <a:xfrm>
            <a:off x="8657937" y="3317875"/>
            <a:ext cx="2619768" cy="454602"/>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4A45"/>
                </a:solidFill>
                <a:latin typeface="Libre Franklin" pitchFamily="34" charset="0"/>
                <a:ea typeface="Libre Franklin" pitchFamily="34" charset="-122"/>
                <a:cs typeface="Libre Franklin" pitchFamily="34" charset="-120"/>
              </a:rPr>
              <a:t>aciertos de Lomb–Scargle en binarias al aceptar también 2P</a:t>
            </a:r>
            <a:endParaRPr lang="en-US" sz="1300" dirty="0"/>
          </a:p>
        </p:txBody>
      </p:sp>
      <p:sp>
        <p:nvSpPr>
          <p:cNvPr id="10" name="Text 7"/>
          <p:cNvSpPr/>
          <p:nvPr/>
        </p:nvSpPr>
        <p:spPr>
          <a:xfrm>
            <a:off x="8420100" y="4039183"/>
            <a:ext cx="3047873" cy="745403"/>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Dos eclipses por órbita se parecen a una sinusoide del doble de frecuencia: el error es sistemático.</a:t>
            </a:r>
            <a:endParaRPr lang="en-US" sz="1400" dirty="0"/>
          </a:p>
        </p:txBody>
      </p:sp>
      <p:pic>
        <p:nvPicPr>
          <p:cNvPr id="11" name="Image 1" descr="Chart"/>
          <p:cNvPicPr>
            <a:picLocks noChangeAspect="1"/>
          </p:cNvPicPr>
          <p:nvPr/>
        </p:nvPicPr>
        <p:blipFill>
          <a:blip r:embed="rId4"/>
          <a:srcRect/>
          <a:stretch/>
        </p:blipFill>
        <p:spPr>
          <a:xfrm>
            <a:off x="812800" y="6294152"/>
            <a:ext cx="203200" cy="203200"/>
          </a:xfrm>
          <a:prstGeom prst="rect">
            <a:avLst/>
          </a:prstGeom>
        </p:spPr>
      </p:pic>
      <p:sp>
        <p:nvSpPr>
          <p:cNvPr id="12" name="Text 8"/>
          <p:cNvSpPr/>
          <p:nvPr/>
        </p:nvSpPr>
        <p:spPr>
          <a:xfrm>
            <a:off x="1092200" y="6289098"/>
            <a:ext cx="5392103"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4 · Resultados · Caracterización individual, 500 estrellas por tipo</a:t>
            </a:r>
            <a:endParaRPr lang="en-US" sz="1200" dirty="0"/>
          </a:p>
        </p:txBody>
      </p:sp>
      <p:sp>
        <p:nvSpPr>
          <p:cNvPr id="13" name="Text 9"/>
          <p:cNvSpPr/>
          <p:nvPr/>
        </p:nvSpPr>
        <p:spPr>
          <a:xfrm>
            <a:off x="11159837" y="6289098"/>
            <a:ext cx="219364"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La entropía condicional elimina los mínimos falsos que crea la cadencia diaria</a:t>
            </a:r>
            <a:endParaRPr lang="en-US" sz="2600" dirty="0"/>
          </a:p>
        </p:txBody>
      </p:sp>
      <p:sp>
        <p:nvSpPr>
          <p:cNvPr id="4" name="Shape 2"/>
          <p:cNvSpPr/>
          <p:nvPr/>
        </p:nvSpPr>
        <p:spPr>
          <a:xfrm>
            <a:off x="812800" y="1521408"/>
            <a:ext cx="1524000" cy="76200"/>
          </a:xfrm>
          <a:prstGeom prst="rect">
            <a:avLst/>
          </a:prstGeom>
          <a:solidFill>
            <a:srgbClr val="5E7E3E"/>
          </a:solidFill>
          <a:ln/>
        </p:spPr>
        <p:txBody>
          <a:bodyPr/>
          <a:lstStyle/>
          <a:p>
            <a:endParaRPr lang="es-CO"/>
          </a:p>
        </p:txBody>
      </p:sp>
      <p:pic>
        <p:nvPicPr>
          <p:cNvPr id="5" name="Image 0" descr="Entropía de Shannon y entropía condicional de OGLE-LMC-ECL-38031: la de Shannon tiene su mínimo en 1 ciclo por día; la condicional, en el doble de la frecuencia catalogada"/>
          <p:cNvPicPr>
            <a:picLocks noChangeAspect="1"/>
          </p:cNvPicPr>
          <p:nvPr/>
        </p:nvPicPr>
        <p:blipFill>
          <a:blip r:embed="rId3"/>
          <a:srcRect l="-52" r="-52"/>
          <a:stretch/>
        </p:blipFill>
        <p:spPr>
          <a:xfrm>
            <a:off x="812800" y="2141829"/>
            <a:ext cx="7493000" cy="3308350"/>
          </a:xfrm>
          <a:prstGeom prst="rect">
            <a:avLst/>
          </a:prstGeom>
        </p:spPr>
      </p:pic>
      <p:sp>
        <p:nvSpPr>
          <p:cNvPr id="6" name="Shape 3"/>
          <p:cNvSpPr/>
          <p:nvPr/>
        </p:nvSpPr>
        <p:spPr>
          <a:xfrm>
            <a:off x="8610600" y="2952750"/>
            <a:ext cx="2768600" cy="1054028"/>
          </a:xfrm>
          <a:prstGeom prst="rect">
            <a:avLst/>
          </a:prstGeom>
          <a:solidFill>
            <a:srgbClr val="F6F6F2"/>
          </a:solidFill>
          <a:ln/>
        </p:spPr>
        <p:txBody>
          <a:bodyPr/>
          <a:lstStyle/>
          <a:p>
            <a:endParaRPr lang="es-CO"/>
          </a:p>
        </p:txBody>
      </p:sp>
      <p:sp>
        <p:nvSpPr>
          <p:cNvPr id="7" name="Shape 4"/>
          <p:cNvSpPr/>
          <p:nvPr/>
        </p:nvSpPr>
        <p:spPr>
          <a:xfrm>
            <a:off x="8642350" y="2952750"/>
            <a:ext cx="0" cy="1054028"/>
          </a:xfrm>
          <a:prstGeom prst="line">
            <a:avLst/>
          </a:prstGeom>
          <a:noFill/>
          <a:ln w="63500">
            <a:solidFill>
              <a:srgbClr val="EB6834"/>
            </a:solidFill>
            <a:prstDash val="solid"/>
          </a:ln>
        </p:spPr>
        <p:txBody>
          <a:bodyPr/>
          <a:lstStyle/>
          <a:p>
            <a:endParaRPr lang="es-CO"/>
          </a:p>
        </p:txBody>
      </p:sp>
      <p:sp>
        <p:nvSpPr>
          <p:cNvPr id="8" name="Text 5"/>
          <p:cNvSpPr/>
          <p:nvPr/>
        </p:nvSpPr>
        <p:spPr>
          <a:xfrm>
            <a:off x="8848437" y="3092450"/>
            <a:ext cx="2423553"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141412"/>
                </a:solidFill>
                <a:latin typeface="Archivo Black" pitchFamily="34" charset="0"/>
                <a:ea typeface="Archivo Black" pitchFamily="34" charset="-122"/>
                <a:cs typeface="Archivo Black" pitchFamily="34" charset="-120"/>
              </a:rPr>
              <a:t>995 de 1000</a:t>
            </a:r>
            <a:endParaRPr lang="en-US" sz="2200" dirty="0"/>
          </a:p>
        </p:txBody>
      </p:sp>
      <p:sp>
        <p:nvSpPr>
          <p:cNvPr id="9" name="Text 6"/>
          <p:cNvSpPr/>
          <p:nvPr/>
        </p:nvSpPr>
        <p:spPr>
          <a:xfrm>
            <a:off x="8848437" y="3437880"/>
            <a:ext cx="2423553" cy="454602"/>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4A45"/>
                </a:solidFill>
                <a:latin typeface="Libre Franklin" pitchFamily="34" charset="0"/>
                <a:ea typeface="Libre Franklin" pitchFamily="34" charset="-122"/>
                <a:cs typeface="Libre Franklin" pitchFamily="34" charset="-120"/>
              </a:rPr>
              <a:t>binarias con el mínimo de Shannon en 0.499 o 0.997 d</a:t>
            </a:r>
            <a:endParaRPr lang="en-US" sz="1300" dirty="0"/>
          </a:p>
        </p:txBody>
      </p:sp>
      <p:sp>
        <p:nvSpPr>
          <p:cNvPr id="10" name="Text 7"/>
          <p:cNvSpPr/>
          <p:nvPr/>
        </p:nvSpPr>
        <p:spPr>
          <a:xfrm>
            <a:off x="8610600" y="4159182"/>
            <a:ext cx="2851658" cy="50540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2E2E2A"/>
                </a:solidFill>
                <a:latin typeface="Libre Franklin" pitchFamily="34" charset="0"/>
                <a:ea typeface="Libre Franklin" pitchFamily="34" charset="-122"/>
                <a:cs typeface="Libre Franklin" pitchFamily="34" charset="-120"/>
              </a:rPr>
              <a:t>Enmascarar esas fracciones de día tapa el 61.1% de la grilla.</a:t>
            </a:r>
            <a:endParaRPr lang="en-US" sz="1400" dirty="0"/>
          </a:p>
        </p:txBody>
      </p:sp>
      <p:pic>
        <p:nvPicPr>
          <p:cNvPr id="11" name="Image 1" descr="Chart"/>
          <p:cNvPicPr>
            <a:picLocks noChangeAspect="1"/>
          </p:cNvPicPr>
          <p:nvPr/>
        </p:nvPicPr>
        <p:blipFill>
          <a:blip r:embed="rId4"/>
          <a:srcRect/>
          <a:stretch/>
        </p:blipFill>
        <p:spPr>
          <a:xfrm>
            <a:off x="812800" y="6294152"/>
            <a:ext cx="203200" cy="203200"/>
          </a:xfrm>
          <a:prstGeom prst="rect">
            <a:avLst/>
          </a:prstGeom>
        </p:spPr>
      </p:pic>
      <p:sp>
        <p:nvSpPr>
          <p:cNvPr id="12" name="Text 8"/>
          <p:cNvSpPr/>
          <p:nvPr/>
        </p:nvSpPr>
        <p:spPr>
          <a:xfrm>
            <a:off x="1092200" y="6289098"/>
            <a:ext cx="4409296"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4 · Resultados · OGLE-LMC-ECL-38031, sin máscara</a:t>
            </a:r>
            <a:endParaRPr lang="en-US" sz="1200" dirty="0"/>
          </a:p>
        </p:txBody>
      </p:sp>
      <p:sp>
        <p:nvSpPr>
          <p:cNvPr id="13" name="Text 9"/>
          <p:cNvSpPr/>
          <p:nvPr/>
        </p:nvSpPr>
        <p:spPr>
          <a:xfrm>
            <a:off x="11158610" y="6289098"/>
            <a:ext cx="22059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El método híbrido acierta en el 75.3% de 1000 binarias sin usar el catálogo</a:t>
            </a:r>
            <a:endParaRPr lang="en-US" sz="2600" dirty="0"/>
          </a:p>
        </p:txBody>
      </p:sp>
      <p:sp>
        <p:nvSpPr>
          <p:cNvPr id="4" name="Shape 2"/>
          <p:cNvSpPr/>
          <p:nvPr/>
        </p:nvSpPr>
        <p:spPr>
          <a:xfrm>
            <a:off x="812800" y="1521408"/>
            <a:ext cx="1524000" cy="76200"/>
          </a:xfrm>
          <a:prstGeom prst="rect">
            <a:avLst/>
          </a:prstGeom>
          <a:solidFill>
            <a:srgbClr val="5E7E3E"/>
          </a:solidFill>
          <a:ln/>
        </p:spPr>
        <p:txBody>
          <a:bodyPr/>
          <a:lstStyle/>
          <a:p>
            <a:endParaRPr lang="es-CO"/>
          </a:p>
        </p:txBody>
      </p:sp>
      <p:pic>
        <p:nvPicPr>
          <p:cNvPr id="5" name="Image 0" descr="Aciertos por etapa: directo 3.0, 27.5 y 4.1%; siempre 2P0 68.1, 55.7 y 71.8%; regla híbrida 72.2, 57.1 y 75.3%; techo 81.4, 87.9 y 86.7% para Lomb–Scargle, entropía condicional y producto de rangos"/>
          <p:cNvPicPr>
            <a:picLocks noChangeAspect="1"/>
          </p:cNvPicPr>
          <p:nvPr/>
        </p:nvPicPr>
        <p:blipFill>
          <a:blip r:embed="rId3"/>
          <a:srcRect t="-33" b="-33"/>
          <a:stretch/>
        </p:blipFill>
        <p:spPr>
          <a:xfrm>
            <a:off x="2222500" y="1757654"/>
            <a:ext cx="7747000" cy="4076700"/>
          </a:xfrm>
          <a:prstGeom prst="rect">
            <a:avLst/>
          </a:prstGeom>
        </p:spPr>
      </p:pic>
      <p:pic>
        <p:nvPicPr>
          <p:cNvPr id="6" name="Image 1" descr="Chart"/>
          <p:cNvPicPr>
            <a:picLocks noChangeAspect="1"/>
          </p:cNvPicPr>
          <p:nvPr/>
        </p:nvPicPr>
        <p:blipFill>
          <a:blip r:embed="rId4"/>
          <a:srcRect/>
          <a:stretch/>
        </p:blipFill>
        <p:spPr>
          <a:xfrm>
            <a:off x="812800" y="6294152"/>
            <a:ext cx="203200" cy="203200"/>
          </a:xfrm>
          <a:prstGeom prst="rect">
            <a:avLst/>
          </a:prstGeom>
        </p:spPr>
      </p:pic>
      <p:sp>
        <p:nvSpPr>
          <p:cNvPr id="7" name="Text 3"/>
          <p:cNvSpPr/>
          <p:nvPr/>
        </p:nvSpPr>
        <p:spPr>
          <a:xfrm>
            <a:off x="1092200" y="6289098"/>
            <a:ext cx="4874722"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4 · Resultados · Muestra nueva de 1000 binarias del OCVS</a:t>
            </a:r>
            <a:endParaRPr lang="en-US" sz="1200" dirty="0"/>
          </a:p>
        </p:txBody>
      </p:sp>
      <p:sp>
        <p:nvSpPr>
          <p:cNvPr id="8" name="Text 4"/>
          <p:cNvSpPr/>
          <p:nvPr/>
        </p:nvSpPr>
        <p:spPr>
          <a:xfrm>
            <a:off x="11157817" y="6289098"/>
            <a:ext cx="221384"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La mejora es estadísticamente significativa en comparaciones pareadas</a:t>
            </a:r>
            <a:endParaRPr lang="en-US" sz="2600" dirty="0"/>
          </a:p>
        </p:txBody>
      </p:sp>
      <p:sp>
        <p:nvSpPr>
          <p:cNvPr id="4" name="Shape 2"/>
          <p:cNvSpPr/>
          <p:nvPr/>
        </p:nvSpPr>
        <p:spPr>
          <a:xfrm>
            <a:off x="812800" y="1521408"/>
            <a:ext cx="1524000" cy="76200"/>
          </a:xfrm>
          <a:prstGeom prst="rect">
            <a:avLst/>
          </a:prstGeom>
          <a:solidFill>
            <a:srgbClr val="5E7E3E"/>
          </a:solidFill>
          <a:ln/>
        </p:spPr>
        <p:txBody>
          <a:bodyPr/>
          <a:lstStyle/>
          <a:p>
            <a:endParaRPr lang="es-CO"/>
          </a:p>
        </p:txBody>
      </p:sp>
      <p:pic>
        <p:nvPicPr>
          <p:cNvPr id="5" name="Image 0" descr="Binarias discordantes: frente a Lomb–Scargle con regla híbrida, 47 solo acierta el híbrido y 16 solo la referencia, p igual a 1.2 por 10 a la menos 4; frente a producto de rangos duplicando siempre, 44 frente a 9, p igual a 1.2 por 10 a la menos 6"/>
          <p:cNvPicPr>
            <a:picLocks noChangeAspect="1"/>
          </p:cNvPicPr>
          <p:nvPr/>
        </p:nvPicPr>
        <p:blipFill>
          <a:blip r:embed="rId3"/>
          <a:srcRect l="-52" r="-52"/>
          <a:stretch/>
        </p:blipFill>
        <p:spPr>
          <a:xfrm>
            <a:off x="2095500" y="1871960"/>
            <a:ext cx="8001000" cy="3378200"/>
          </a:xfrm>
          <a:prstGeom prst="rect">
            <a:avLst/>
          </a:prstGeom>
        </p:spPr>
      </p:pic>
      <p:sp>
        <p:nvSpPr>
          <p:cNvPr id="6" name="Text 3"/>
          <p:cNvSpPr/>
          <p:nvPr/>
        </p:nvSpPr>
        <p:spPr>
          <a:xfrm>
            <a:off x="2148155" y="5453360"/>
            <a:ext cx="7895619"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2E2E2A"/>
                </a:solidFill>
                <a:latin typeface="Libre Franklin" pitchFamily="34" charset="0"/>
                <a:ea typeface="Libre Franklin" pitchFamily="34" charset="-122"/>
                <a:cs typeface="Libre Franklin" pitchFamily="34" charset="-120"/>
              </a:rPr>
              <a:t>Estable al dividir la muestra: 75.6% y 75.0% en cada mitad de 500 binarias.</a:t>
            </a:r>
            <a:endParaRPr lang="en-US" sz="1500" dirty="0"/>
          </a:p>
        </p:txBody>
      </p:sp>
      <p:pic>
        <p:nvPicPr>
          <p:cNvPr id="7" name="Image 1" descr="Chart"/>
          <p:cNvPicPr>
            <a:picLocks noChangeAspect="1"/>
          </p:cNvPicPr>
          <p:nvPr/>
        </p:nvPicPr>
        <p:blipFill>
          <a:blip r:embed="rId4"/>
          <a:srcRect/>
          <a:stretch/>
        </p:blipFill>
        <p:spPr>
          <a:xfrm>
            <a:off x="812800" y="6285210"/>
            <a:ext cx="203200" cy="203200"/>
          </a:xfrm>
          <a:prstGeom prst="rect">
            <a:avLst/>
          </a:prstGeom>
        </p:spPr>
      </p:pic>
      <p:sp>
        <p:nvSpPr>
          <p:cNvPr id="8" name="Text 4"/>
          <p:cNvSpPr/>
          <p:nvPr/>
        </p:nvSpPr>
        <p:spPr>
          <a:xfrm>
            <a:off x="1092200" y="6280150"/>
            <a:ext cx="1129001"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4 · Resultados ·</a:t>
            </a:r>
            <a:endParaRPr lang="en-US" sz="1200" dirty="0"/>
          </a:p>
        </p:txBody>
      </p:sp>
      <p:sp>
        <p:nvSpPr>
          <p:cNvPr id="9" name="Text 5"/>
          <p:cNvSpPr/>
          <p:nvPr/>
        </p:nvSpPr>
        <p:spPr>
          <a:xfrm>
            <a:off x="2221201" y="6271282"/>
            <a:ext cx="3289329" cy="256526"/>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2E2A"/>
                </a:solidFill>
                <a:latin typeface="Libre Franklin" pitchFamily="34" charset="0"/>
                <a:ea typeface="Libre Franklin" pitchFamily="34" charset="-122"/>
                <a:cs typeface="Libre Franklin" pitchFamily="34" charset="-120"/>
              </a:rPr>
              <a:t>Prueba exacta de McNemar (1947)</a:t>
            </a:r>
            <a:endParaRPr lang="en-US" sz="1300" dirty="0"/>
          </a:p>
        </p:txBody>
      </p:sp>
      <p:sp>
        <p:nvSpPr>
          <p:cNvPr id="10" name="Text 6"/>
          <p:cNvSpPr/>
          <p:nvPr/>
        </p:nvSpPr>
        <p:spPr>
          <a:xfrm>
            <a:off x="11156734" y="6280150"/>
            <a:ext cx="222466"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Casi la mitad de los fallos restantes son errores de un factor 2 exacto</a:t>
            </a:r>
            <a:endParaRPr lang="en-US" sz="2600" dirty="0"/>
          </a:p>
        </p:txBody>
      </p:sp>
      <p:sp>
        <p:nvSpPr>
          <p:cNvPr id="4" name="Shape 2"/>
          <p:cNvSpPr/>
          <p:nvPr/>
        </p:nvSpPr>
        <p:spPr>
          <a:xfrm>
            <a:off x="812800" y="1521408"/>
            <a:ext cx="1524000" cy="76200"/>
          </a:xfrm>
          <a:prstGeom prst="rect">
            <a:avLst/>
          </a:prstGeom>
          <a:solidFill>
            <a:srgbClr val="5E7E3E"/>
          </a:solidFill>
          <a:ln/>
        </p:spPr>
        <p:txBody>
          <a:bodyPr/>
          <a:lstStyle/>
          <a:p>
            <a:endParaRPr lang="es-CO"/>
          </a:p>
        </p:txBody>
      </p:sp>
      <p:pic>
        <p:nvPicPr>
          <p:cNvPr id="5" name="Image 0" descr="Matriz de confusión entre el múltiplo real y el múltiplo elegido por la regla híbrida, con la mayoría de casos en la diagonal de n igual a 2"/>
          <p:cNvPicPr>
            <a:picLocks noChangeAspect="1"/>
          </p:cNvPicPr>
          <p:nvPr/>
        </p:nvPicPr>
        <p:blipFill>
          <a:blip r:embed="rId3"/>
          <a:srcRect l="-17" r="-17"/>
          <a:stretch/>
        </p:blipFill>
        <p:spPr>
          <a:xfrm>
            <a:off x="812800" y="1862435"/>
            <a:ext cx="5016500" cy="3867150"/>
          </a:xfrm>
          <a:prstGeom prst="rect">
            <a:avLst/>
          </a:prstGeom>
        </p:spPr>
      </p:pic>
      <p:sp>
        <p:nvSpPr>
          <p:cNvPr id="6" name="Text 3"/>
          <p:cNvSpPr/>
          <p:nvPr/>
        </p:nvSpPr>
        <p:spPr>
          <a:xfrm>
            <a:off x="6184900" y="2421954"/>
            <a:ext cx="5350129" cy="30985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412"/>
                </a:solidFill>
                <a:latin typeface="Libre Franklin" pitchFamily="34" charset="0"/>
                <a:ea typeface="Libre Franklin" pitchFamily="34" charset="-122"/>
                <a:cs typeface="Libre Franklin" pitchFamily="34" charset="-120"/>
              </a:rPr>
              <a:t>De 247 binarias falladas:</a:t>
            </a:r>
            <a:endParaRPr lang="en-US" sz="1600" dirty="0"/>
          </a:p>
        </p:txBody>
      </p:sp>
      <p:sp>
        <p:nvSpPr>
          <p:cNvPr id="7" name="Shape 4"/>
          <p:cNvSpPr/>
          <p:nvPr/>
        </p:nvSpPr>
        <p:spPr>
          <a:xfrm>
            <a:off x="6184900" y="2858802"/>
            <a:ext cx="5194300" cy="1079428"/>
          </a:xfrm>
          <a:prstGeom prst="rect">
            <a:avLst/>
          </a:prstGeom>
          <a:solidFill>
            <a:srgbClr val="F6F6F2"/>
          </a:solidFill>
          <a:ln/>
        </p:spPr>
        <p:txBody>
          <a:bodyPr/>
          <a:lstStyle/>
          <a:p>
            <a:endParaRPr lang="es-CO"/>
          </a:p>
        </p:txBody>
      </p:sp>
      <p:sp>
        <p:nvSpPr>
          <p:cNvPr id="8" name="Shape 5"/>
          <p:cNvSpPr/>
          <p:nvPr/>
        </p:nvSpPr>
        <p:spPr>
          <a:xfrm>
            <a:off x="6216650" y="2858802"/>
            <a:ext cx="0" cy="1079428"/>
          </a:xfrm>
          <a:prstGeom prst="line">
            <a:avLst/>
          </a:prstGeom>
          <a:noFill/>
          <a:ln w="63500">
            <a:solidFill>
              <a:srgbClr val="EB6834"/>
            </a:solidFill>
            <a:prstDash val="solid"/>
          </a:ln>
        </p:spPr>
        <p:txBody>
          <a:bodyPr/>
          <a:lstStyle/>
          <a:p>
            <a:endParaRPr lang="es-CO"/>
          </a:p>
        </p:txBody>
      </p:sp>
      <p:sp>
        <p:nvSpPr>
          <p:cNvPr id="9" name="Text 6"/>
          <p:cNvSpPr/>
          <p:nvPr/>
        </p:nvSpPr>
        <p:spPr>
          <a:xfrm>
            <a:off x="6422737" y="2973102"/>
            <a:ext cx="4922024" cy="388577"/>
          </a:xfrm>
          <a:prstGeom prst="rect">
            <a:avLst/>
          </a:prstGeom>
          <a:noFill/>
          <a:ln/>
        </p:spPr>
        <p:txBody>
          <a:bodyPr wrap="square" lIns="0" tIns="0" rIns="0" bIns="0" rtlCol="0" anchor="t">
            <a:normAutofit/>
          </a:bodyPr>
          <a:lstStyle/>
          <a:p>
            <a:pPr marL="0" indent="0" algn="l">
              <a:lnSpc>
                <a:spcPts val="2860"/>
              </a:lnSpc>
              <a:buNone/>
            </a:pPr>
            <a:r>
              <a:rPr lang="en-US" sz="2600" dirty="0">
                <a:solidFill>
                  <a:srgbClr val="141412"/>
                </a:solidFill>
                <a:latin typeface="Archivo Black" pitchFamily="34" charset="0"/>
                <a:ea typeface="Archivo Black" pitchFamily="34" charset="-122"/>
                <a:cs typeface="Archivo Black" pitchFamily="34" charset="-120"/>
              </a:rPr>
              <a:t>113</a:t>
            </a:r>
            <a:endParaRPr lang="en-US" sz="2600" dirty="0"/>
          </a:p>
        </p:txBody>
      </p:sp>
      <p:sp>
        <p:nvSpPr>
          <p:cNvPr id="10" name="Text 7"/>
          <p:cNvSpPr/>
          <p:nvPr/>
        </p:nvSpPr>
        <p:spPr>
          <a:xfrm>
            <a:off x="6422737" y="3361680"/>
            <a:ext cx="4922024" cy="48765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4A45"/>
                </a:solidFill>
                <a:latin typeface="Libre Franklin" pitchFamily="34" charset="0"/>
                <a:ea typeface="Libre Franklin" pitchFamily="34" charset="-122"/>
                <a:cs typeface="Libre Franklin" pitchFamily="34" charset="-120"/>
              </a:rPr>
              <a:t>quedan en P/2 o en 2P: dos eclipses casi iguales se confunden con uno solo</a:t>
            </a:r>
            <a:endParaRPr lang="en-US" sz="1400" dirty="0"/>
          </a:p>
        </p:txBody>
      </p:sp>
      <p:sp>
        <p:nvSpPr>
          <p:cNvPr id="11" name="Shape 8"/>
          <p:cNvSpPr/>
          <p:nvPr/>
        </p:nvSpPr>
        <p:spPr>
          <a:xfrm>
            <a:off x="6184900" y="4090628"/>
            <a:ext cx="5194300" cy="1079428"/>
          </a:xfrm>
          <a:prstGeom prst="rect">
            <a:avLst/>
          </a:prstGeom>
          <a:solidFill>
            <a:srgbClr val="F6F6F2"/>
          </a:solidFill>
          <a:ln/>
        </p:spPr>
        <p:txBody>
          <a:bodyPr/>
          <a:lstStyle/>
          <a:p>
            <a:endParaRPr lang="es-CO"/>
          </a:p>
        </p:txBody>
      </p:sp>
      <p:sp>
        <p:nvSpPr>
          <p:cNvPr id="12" name="Shape 9"/>
          <p:cNvSpPr/>
          <p:nvPr/>
        </p:nvSpPr>
        <p:spPr>
          <a:xfrm>
            <a:off x="6216650" y="4090628"/>
            <a:ext cx="0" cy="1079428"/>
          </a:xfrm>
          <a:prstGeom prst="line">
            <a:avLst/>
          </a:prstGeom>
          <a:noFill/>
          <a:ln w="63500">
            <a:solidFill>
              <a:srgbClr val="9A9893"/>
            </a:solidFill>
            <a:prstDash val="solid"/>
          </a:ln>
        </p:spPr>
        <p:txBody>
          <a:bodyPr/>
          <a:lstStyle/>
          <a:p>
            <a:endParaRPr lang="es-CO"/>
          </a:p>
        </p:txBody>
      </p:sp>
      <p:sp>
        <p:nvSpPr>
          <p:cNvPr id="13" name="Text 10"/>
          <p:cNvSpPr/>
          <p:nvPr/>
        </p:nvSpPr>
        <p:spPr>
          <a:xfrm>
            <a:off x="6422737" y="4204928"/>
            <a:ext cx="4922024" cy="388577"/>
          </a:xfrm>
          <a:prstGeom prst="rect">
            <a:avLst/>
          </a:prstGeom>
          <a:noFill/>
          <a:ln/>
        </p:spPr>
        <p:txBody>
          <a:bodyPr wrap="square" lIns="0" tIns="0" rIns="0" bIns="0" rtlCol="0" anchor="t">
            <a:normAutofit/>
          </a:bodyPr>
          <a:lstStyle/>
          <a:p>
            <a:pPr marL="0" indent="0" algn="l">
              <a:lnSpc>
                <a:spcPts val="2860"/>
              </a:lnSpc>
              <a:buNone/>
            </a:pPr>
            <a:r>
              <a:rPr lang="en-US" sz="2600" dirty="0">
                <a:solidFill>
                  <a:srgbClr val="141412"/>
                </a:solidFill>
                <a:latin typeface="Archivo Black" pitchFamily="34" charset="0"/>
                <a:ea typeface="Archivo Black" pitchFamily="34" charset="-122"/>
                <a:cs typeface="Archivo Black" pitchFamily="34" charset="-120"/>
              </a:rPr>
              <a:t>133</a:t>
            </a:r>
            <a:endParaRPr lang="en-US" sz="2600" dirty="0"/>
          </a:p>
        </p:txBody>
      </p:sp>
      <p:sp>
        <p:nvSpPr>
          <p:cNvPr id="14" name="Text 11"/>
          <p:cNvSpPr/>
          <p:nvPr/>
        </p:nvSpPr>
        <p:spPr>
          <a:xfrm>
            <a:off x="6422737" y="4593506"/>
            <a:ext cx="4922024" cy="48765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4A4A45"/>
                </a:solidFill>
                <a:latin typeface="Libre Franklin" pitchFamily="34" charset="0"/>
                <a:ea typeface="Libre Franklin" pitchFamily="34" charset="-122"/>
                <a:cs typeface="Libre Franklin" pitchFamily="34" charset="-120"/>
              </a:rPr>
              <a:t>no tienen ningún múltiplo correcto de P₀; su periodo mediano es 12.1 d</a:t>
            </a:r>
            <a:endParaRPr lang="en-US" sz="1400" dirty="0"/>
          </a:p>
        </p:txBody>
      </p:sp>
      <p:pic>
        <p:nvPicPr>
          <p:cNvPr id="15" name="Image 1" descr="Chart"/>
          <p:cNvPicPr>
            <a:picLocks noChangeAspect="1"/>
          </p:cNvPicPr>
          <p:nvPr/>
        </p:nvPicPr>
        <p:blipFill>
          <a:blip r:embed="rId4"/>
          <a:srcRect/>
          <a:stretch/>
        </p:blipFill>
        <p:spPr>
          <a:xfrm>
            <a:off x="812800" y="6294152"/>
            <a:ext cx="203200" cy="203200"/>
          </a:xfrm>
          <a:prstGeom prst="rect">
            <a:avLst/>
          </a:prstGeom>
        </p:spPr>
      </p:pic>
      <p:sp>
        <p:nvSpPr>
          <p:cNvPr id="16" name="Text 12"/>
          <p:cNvSpPr/>
          <p:nvPr/>
        </p:nvSpPr>
        <p:spPr>
          <a:xfrm>
            <a:off x="1092200" y="6289104"/>
            <a:ext cx="4452245"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4 · Resultados · Múltiplo real frente a múltiplo elegido</a:t>
            </a:r>
            <a:endParaRPr lang="en-US" sz="1200" dirty="0"/>
          </a:p>
        </p:txBody>
      </p:sp>
      <p:sp>
        <p:nvSpPr>
          <p:cNvPr id="17" name="Text 13"/>
          <p:cNvSpPr/>
          <p:nvPr/>
        </p:nvSpPr>
        <p:spPr>
          <a:xfrm>
            <a:off x="11166187" y="6289104"/>
            <a:ext cx="213014"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2341A"/>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p:nvPr/>
        </p:nvSpPr>
        <p:spPr>
          <a:xfrm>
            <a:off x="812800" y="609600"/>
            <a:ext cx="10883392" cy="256526"/>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F5D04C"/>
                </a:solidFill>
                <a:latin typeface="Libre Franklin" pitchFamily="34" charset="0"/>
                <a:ea typeface="Libre Franklin" pitchFamily="34" charset="-122"/>
                <a:cs typeface="Libre Franklin" pitchFamily="34" charset="-120"/>
              </a:rPr>
              <a:t>CONCLUSIONES PRELIMINARES</a:t>
            </a:r>
            <a:endParaRPr lang="en-US" sz="1300" dirty="0"/>
          </a:p>
        </p:txBody>
      </p:sp>
      <p:sp>
        <p:nvSpPr>
          <p:cNvPr id="4" name="Text 2"/>
          <p:cNvSpPr>
            <a:spLocks noGrp="1"/>
          </p:cNvSpPr>
          <p:nvPr>
            <p:ph type="title"/>
          </p:nvPr>
        </p:nvSpPr>
        <p:spPr>
          <a:xfrm>
            <a:off x="812800" y="99313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FFFFFF"/>
                </a:solidFill>
                <a:latin typeface="Archivo Black" pitchFamily="34" charset="0"/>
                <a:ea typeface="Archivo Black" pitchFamily="34" charset="-122"/>
                <a:cs typeface="Archivo Black" pitchFamily="34" charset="-120"/>
              </a:rPr>
              <a:t>Combinar ambos métodos supera a Lomb–Scargle en binarias eclipsantes</a:t>
            </a:r>
            <a:endParaRPr lang="en-US" sz="2600" dirty="0"/>
          </a:p>
        </p:txBody>
      </p:sp>
      <p:sp>
        <p:nvSpPr>
          <p:cNvPr id="5" name="Shape 3"/>
          <p:cNvSpPr/>
          <p:nvPr/>
        </p:nvSpPr>
        <p:spPr>
          <a:xfrm>
            <a:off x="812800" y="1904926"/>
            <a:ext cx="1524000" cy="76200"/>
          </a:xfrm>
          <a:prstGeom prst="rect">
            <a:avLst/>
          </a:prstGeom>
          <a:solidFill>
            <a:srgbClr val="F5D04C"/>
          </a:solidFill>
          <a:ln/>
        </p:spPr>
        <p:txBody>
          <a:bodyPr/>
          <a:lstStyle/>
          <a:p>
            <a:endParaRPr lang="es-CO"/>
          </a:p>
        </p:txBody>
      </p:sp>
      <p:sp>
        <p:nvSpPr>
          <p:cNvPr id="6" name="Text 4"/>
          <p:cNvSpPr/>
          <p:nvPr/>
        </p:nvSpPr>
        <p:spPr>
          <a:xfrm>
            <a:off x="812800" y="2479030"/>
            <a:ext cx="431800"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5D04C"/>
                </a:solidFill>
                <a:latin typeface="Archivo Black" pitchFamily="34" charset="0"/>
                <a:ea typeface="Archivo Black" pitchFamily="34" charset="-122"/>
                <a:cs typeface="Archivo Black" pitchFamily="34" charset="-120"/>
              </a:rPr>
              <a:t>1</a:t>
            </a:r>
            <a:endParaRPr lang="en-US" sz="2200" dirty="0"/>
          </a:p>
        </p:txBody>
      </p:sp>
      <p:sp>
        <p:nvSpPr>
          <p:cNvPr id="7" name="Text 5"/>
          <p:cNvSpPr/>
          <p:nvPr/>
        </p:nvSpPr>
        <p:spPr>
          <a:xfrm>
            <a:off x="1397000" y="2479030"/>
            <a:ext cx="10281666" cy="60830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3EC"/>
                </a:solidFill>
                <a:latin typeface="Libre Franklin" pitchFamily="34" charset="0"/>
                <a:ea typeface="Libre Franklin" pitchFamily="34" charset="-122"/>
                <a:cs typeface="Libre Franklin" pitchFamily="34" charset="-120"/>
              </a:rPr>
              <a:t>Lomb–Scargle acierta en más del 98% de las pulsantes, pero en binarias recupera casi siempre la mitad del periodo.</a:t>
            </a:r>
            <a:endParaRPr lang="en-US" sz="1700" dirty="0"/>
          </a:p>
        </p:txBody>
      </p:sp>
      <p:sp>
        <p:nvSpPr>
          <p:cNvPr id="8" name="Text 6"/>
          <p:cNvSpPr/>
          <p:nvPr/>
        </p:nvSpPr>
        <p:spPr>
          <a:xfrm>
            <a:off x="812800" y="3290528"/>
            <a:ext cx="431800"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5D04C"/>
                </a:solidFill>
                <a:latin typeface="Archivo Black" pitchFamily="34" charset="0"/>
                <a:ea typeface="Archivo Black" pitchFamily="34" charset="-122"/>
                <a:cs typeface="Archivo Black" pitchFamily="34" charset="-120"/>
              </a:rPr>
              <a:t>2</a:t>
            </a:r>
            <a:endParaRPr lang="en-US" sz="2200" dirty="0"/>
          </a:p>
        </p:txBody>
      </p:sp>
      <p:sp>
        <p:nvSpPr>
          <p:cNvPr id="9" name="Text 7"/>
          <p:cNvSpPr/>
          <p:nvPr/>
        </p:nvSpPr>
        <p:spPr>
          <a:xfrm>
            <a:off x="1397000" y="3290528"/>
            <a:ext cx="10281666" cy="60830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3EC"/>
                </a:solidFill>
                <a:latin typeface="Libre Franklin" pitchFamily="34" charset="0"/>
                <a:ea typeface="Libre Franklin" pitchFamily="34" charset="-122"/>
                <a:cs typeface="Libre Franklin" pitchFamily="34" charset="-120"/>
              </a:rPr>
              <a:t>La entropía condicional elimina, sin máscaras, los mínimos falsos que la cadencia diaria produce en la entropía de Shannon.</a:t>
            </a:r>
            <a:endParaRPr lang="en-US" sz="1700" dirty="0"/>
          </a:p>
        </p:txBody>
      </p:sp>
      <p:sp>
        <p:nvSpPr>
          <p:cNvPr id="10" name="Text 8"/>
          <p:cNvSpPr/>
          <p:nvPr/>
        </p:nvSpPr>
        <p:spPr>
          <a:xfrm>
            <a:off x="812800" y="4102026"/>
            <a:ext cx="431800"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5D04C"/>
                </a:solidFill>
                <a:latin typeface="Archivo Black" pitchFamily="34" charset="0"/>
                <a:ea typeface="Archivo Black" pitchFamily="34" charset="-122"/>
                <a:cs typeface="Archivo Black" pitchFamily="34" charset="-120"/>
              </a:rPr>
              <a:t>3</a:t>
            </a:r>
            <a:endParaRPr lang="en-US" sz="2200" dirty="0"/>
          </a:p>
        </p:txBody>
      </p:sp>
      <p:sp>
        <p:nvSpPr>
          <p:cNvPr id="11" name="Text 9"/>
          <p:cNvSpPr/>
          <p:nvPr/>
        </p:nvSpPr>
        <p:spPr>
          <a:xfrm>
            <a:off x="1397000" y="4102026"/>
            <a:ext cx="10281666" cy="60830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3EC"/>
                </a:solidFill>
                <a:latin typeface="Libre Franklin" pitchFamily="34" charset="0"/>
                <a:ea typeface="Libre Franklin" pitchFamily="34" charset="-122"/>
                <a:cs typeface="Libre Franklin" pitchFamily="34" charset="-120"/>
              </a:rPr>
              <a:t>El método híbrido acierta en el 75.3% de 1000 binarias sin usar el catálogo, 7.2 puntos sobre Lomb–Scargle duplicando siempre.</a:t>
            </a:r>
            <a:endParaRPr lang="en-US" sz="1700" dirty="0"/>
          </a:p>
        </p:txBody>
      </p:sp>
      <p:sp>
        <p:nvSpPr>
          <p:cNvPr id="12" name="Text 10"/>
          <p:cNvSpPr/>
          <p:nvPr/>
        </p:nvSpPr>
        <p:spPr>
          <a:xfrm>
            <a:off x="812800" y="4913536"/>
            <a:ext cx="431800" cy="332726"/>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5D04C"/>
                </a:solidFill>
                <a:latin typeface="Archivo Black" pitchFamily="34" charset="0"/>
                <a:ea typeface="Archivo Black" pitchFamily="34" charset="-122"/>
                <a:cs typeface="Archivo Black" pitchFamily="34" charset="-120"/>
              </a:rPr>
              <a:t>4</a:t>
            </a:r>
            <a:endParaRPr lang="en-US" sz="2200" dirty="0"/>
          </a:p>
        </p:txBody>
      </p:sp>
      <p:sp>
        <p:nvSpPr>
          <p:cNvPr id="13" name="Text 11"/>
          <p:cNvSpPr/>
          <p:nvPr/>
        </p:nvSpPr>
        <p:spPr>
          <a:xfrm>
            <a:off x="1397000" y="4913536"/>
            <a:ext cx="10281666" cy="608301"/>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4F3EC"/>
                </a:solidFill>
                <a:latin typeface="Libre Franklin" pitchFamily="34" charset="0"/>
                <a:ea typeface="Libre Franklin" pitchFamily="34" charset="-122"/>
                <a:cs typeface="Libre Franklin" pitchFamily="34" charset="-120"/>
              </a:rPr>
              <a:t>La principal limitación restante es la ambigüedad de un factor 2 entre dos eclipses casi iguales y uno solo.</a:t>
            </a:r>
            <a:endParaRPr lang="en-US" sz="1700" dirty="0"/>
          </a:p>
        </p:txBody>
      </p:sp>
      <p:pic>
        <p:nvPicPr>
          <p:cNvPr id="14" name="Image 0" descr="CheckCircle"/>
          <p:cNvPicPr>
            <a:picLocks noChangeAspect="1"/>
          </p:cNvPicPr>
          <p:nvPr/>
        </p:nvPicPr>
        <p:blipFill>
          <a:blip r:embed="rId3"/>
          <a:srcRect/>
          <a:stretch/>
        </p:blipFill>
        <p:spPr>
          <a:xfrm>
            <a:off x="812800" y="6294152"/>
            <a:ext cx="203200" cy="203200"/>
          </a:xfrm>
          <a:prstGeom prst="rect">
            <a:avLst/>
          </a:prstGeom>
        </p:spPr>
      </p:pic>
      <p:sp>
        <p:nvSpPr>
          <p:cNvPr id="15" name="Text 12"/>
          <p:cNvSpPr/>
          <p:nvPr/>
        </p:nvSpPr>
        <p:spPr>
          <a:xfrm>
            <a:off x="1092200" y="6289104"/>
            <a:ext cx="2476327"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BE"/>
                </a:solidFill>
                <a:latin typeface="Libre Franklin" pitchFamily="34" charset="0"/>
                <a:ea typeface="Libre Franklin" pitchFamily="34" charset="-122"/>
                <a:cs typeface="Libre Franklin" pitchFamily="34" charset="-120"/>
              </a:rPr>
              <a:t>5 · Conclusiones preliminares</a:t>
            </a:r>
            <a:endParaRPr lang="en-US" sz="1200" dirty="0"/>
          </a:p>
        </p:txBody>
      </p:sp>
      <p:sp>
        <p:nvSpPr>
          <p:cNvPr id="16" name="Text 13"/>
          <p:cNvSpPr/>
          <p:nvPr/>
        </p:nvSpPr>
        <p:spPr>
          <a:xfrm>
            <a:off x="11155724" y="6289104"/>
            <a:ext cx="223477"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6BE"/>
                </a:solidFill>
                <a:latin typeface="Libre Franklin" pitchFamily="34" charset="0"/>
                <a:ea typeface="Libre Franklin" pitchFamily="34" charset="-122"/>
                <a:cs typeface="Libre Franklin"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784802"/>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El análisis en OGLE va adelantado; las curvas sintéticas están atrasadas</a:t>
            </a:r>
            <a:endParaRPr lang="en-US" sz="2600" dirty="0"/>
          </a:p>
        </p:txBody>
      </p:sp>
      <p:sp>
        <p:nvSpPr>
          <p:cNvPr id="4" name="Shape 2"/>
          <p:cNvSpPr/>
          <p:nvPr/>
        </p:nvSpPr>
        <p:spPr>
          <a:xfrm>
            <a:off x="812800" y="1521408"/>
            <a:ext cx="1524000" cy="76200"/>
          </a:xfrm>
          <a:prstGeom prst="rect">
            <a:avLst/>
          </a:prstGeom>
          <a:solidFill>
            <a:srgbClr val="5E7E3E"/>
          </a:solidFill>
          <a:ln/>
        </p:spPr>
        <p:txBody>
          <a:bodyPr/>
          <a:lstStyle/>
          <a:p>
            <a:endParaRPr lang="es-CO"/>
          </a:p>
        </p:txBody>
      </p:sp>
      <p:pic>
        <p:nvPicPr>
          <p:cNvPr id="5" name="Image 0" descr="Cronograma de 16 semanas con el estado de cada tarea en la semana 9: caracterizaciones y diseño completos; curvas sintéticas y su validación atrasadas; aplicación a datos reales solo en OGLE; análisis estadístico adelantado; documento final pendiente"/>
          <p:cNvPicPr>
            <a:picLocks noChangeAspect="1"/>
          </p:cNvPicPr>
          <p:nvPr/>
        </p:nvPicPr>
        <p:blipFill>
          <a:blip r:embed="rId3"/>
          <a:srcRect t="-1224" b="-1224"/>
          <a:stretch/>
        </p:blipFill>
        <p:spPr>
          <a:xfrm>
            <a:off x="812800" y="1786235"/>
            <a:ext cx="10566400" cy="4019550"/>
          </a:xfrm>
          <a:prstGeom prst="rect">
            <a:avLst/>
          </a:prstGeom>
        </p:spPr>
      </p:pic>
      <p:pic>
        <p:nvPicPr>
          <p:cNvPr id="6" name="Image 1" descr="Clock"/>
          <p:cNvPicPr>
            <a:picLocks noChangeAspect="1"/>
          </p:cNvPicPr>
          <p:nvPr/>
        </p:nvPicPr>
        <p:blipFill>
          <a:blip r:embed="rId4"/>
          <a:srcRect/>
          <a:stretch/>
        </p:blipFill>
        <p:spPr>
          <a:xfrm>
            <a:off x="812800" y="6294152"/>
            <a:ext cx="203200" cy="203200"/>
          </a:xfrm>
          <a:prstGeom prst="rect">
            <a:avLst/>
          </a:prstGeom>
        </p:spPr>
      </p:pic>
      <p:sp>
        <p:nvSpPr>
          <p:cNvPr id="7" name="Text 3"/>
          <p:cNvSpPr/>
          <p:nvPr/>
        </p:nvSpPr>
        <p:spPr>
          <a:xfrm>
            <a:off x="1092200" y="6289104"/>
            <a:ext cx="4623522"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6 · Cronograma de la propuesta, estado en la semana 9</a:t>
            </a:r>
            <a:endParaRPr lang="en-US" sz="1200" dirty="0"/>
          </a:p>
        </p:txBody>
      </p:sp>
      <p:sp>
        <p:nvSpPr>
          <p:cNvPr id="8" name="Text 4"/>
          <p:cNvSpPr/>
          <p:nvPr/>
        </p:nvSpPr>
        <p:spPr>
          <a:xfrm>
            <a:off x="11157239" y="6289104"/>
            <a:ext cx="221961"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14000" y="0"/>
            <a:ext cx="1778000" cy="1778000"/>
          </a:xfrm>
          <a:prstGeom prst="rect">
            <a:avLst/>
          </a:prstGeom>
          <a:gradFill rotWithShape="1">
            <a:gsLst>
              <a:gs pos="0">
                <a:srgbClr val="4596A4"/>
              </a:gs>
              <a:gs pos="16000">
                <a:srgbClr val="4596A4"/>
              </a:gs>
              <a:gs pos="16000">
                <a:srgbClr val="F5D04C"/>
              </a:gs>
              <a:gs pos="34000">
                <a:srgbClr val="F5D04C"/>
              </a:gs>
              <a:gs pos="34000">
                <a:srgbClr val="7BA654"/>
              </a:gs>
              <a:gs pos="50000">
                <a:srgbClr val="7BA654"/>
              </a:gs>
              <a:gs pos="50000">
                <a:srgbClr val="7BA654">
                  <a:alpha val="0"/>
                </a:srgbClr>
              </a:gs>
            </a:gsLst>
            <a:lin ang="8100000" scaled="0"/>
          </a:gradFill>
          <a:ln/>
        </p:spPr>
        <p:txBody>
          <a:bodyPr/>
          <a:lstStyle/>
          <a:p>
            <a:endParaRPr lang="es-CO"/>
          </a:p>
        </p:txBody>
      </p:sp>
      <p:sp>
        <p:nvSpPr>
          <p:cNvPr id="3" name="Text 1"/>
          <p:cNvSpPr>
            <a:spLocks noGrp="1"/>
          </p:cNvSpPr>
          <p:nvPr>
            <p:ph type="title"/>
          </p:nvPr>
        </p:nvSpPr>
        <p:spPr>
          <a:xfrm>
            <a:off x="812800" y="609600"/>
            <a:ext cx="9418320" cy="405101"/>
          </a:xfrm>
          <a:prstGeom prst="rect">
            <a:avLst/>
          </a:prstGeom>
          <a:noFill/>
          <a:ln/>
        </p:spPr>
        <p:txBody>
          <a:bodyPr wrap="square" lIns="0" tIns="0" rIns="0" bIns="0" rtlCol="0" anchor="t">
            <a:normAutofit/>
          </a:bodyPr>
          <a:lstStyle/>
          <a:p>
            <a:pPr marL="0" indent="0" algn="l">
              <a:lnSpc>
                <a:spcPts val="2990"/>
              </a:lnSpc>
              <a:buNone/>
            </a:pPr>
            <a:r>
              <a:rPr lang="en-US" sz="2600" b="0" i="0" dirty="0">
                <a:solidFill>
                  <a:srgbClr val="141412"/>
                </a:solidFill>
                <a:latin typeface="Archivo Black" pitchFamily="34" charset="0"/>
                <a:ea typeface="Archivo Black" pitchFamily="34" charset="-122"/>
                <a:cs typeface="Archivo Black" pitchFamily="34" charset="-120"/>
              </a:rPr>
              <a:t>Referencias</a:t>
            </a:r>
            <a:endParaRPr lang="en-US" sz="2600" dirty="0"/>
          </a:p>
        </p:txBody>
      </p:sp>
      <p:sp>
        <p:nvSpPr>
          <p:cNvPr id="4" name="Shape 2"/>
          <p:cNvSpPr/>
          <p:nvPr/>
        </p:nvSpPr>
        <p:spPr>
          <a:xfrm>
            <a:off x="812800" y="1141710"/>
            <a:ext cx="1524000" cy="76200"/>
          </a:xfrm>
          <a:prstGeom prst="rect">
            <a:avLst/>
          </a:prstGeom>
          <a:solidFill>
            <a:srgbClr val="5E7E3E"/>
          </a:solidFill>
          <a:ln/>
        </p:spPr>
        <p:txBody>
          <a:bodyPr/>
          <a:lstStyle/>
          <a:p>
            <a:endParaRPr lang="es-CO"/>
          </a:p>
        </p:txBody>
      </p:sp>
      <p:sp>
        <p:nvSpPr>
          <p:cNvPr id="5" name="Text 3"/>
          <p:cNvSpPr/>
          <p:nvPr/>
        </p:nvSpPr>
        <p:spPr>
          <a:xfrm>
            <a:off x="812800" y="1370310"/>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Breitling, R., Armengaud, P., Amtmann, A., &amp; Herzyk, P. 2004, FEBS Letters, 573, 83</a:t>
            </a:r>
            <a:endParaRPr lang="en-US" sz="1300" dirty="0"/>
          </a:p>
        </p:txBody>
      </p:sp>
      <p:sp>
        <p:nvSpPr>
          <p:cNvPr id="6" name="Text 4"/>
          <p:cNvSpPr/>
          <p:nvPr/>
        </p:nvSpPr>
        <p:spPr>
          <a:xfrm>
            <a:off x="812800" y="1661108"/>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Cincotta, P. M., Méndez, M., &amp; Núñez, J. A. 1995, ApJ, 449, 231</a:t>
            </a:r>
            <a:endParaRPr lang="en-US" sz="1300" dirty="0"/>
          </a:p>
        </p:txBody>
      </p:sp>
      <p:sp>
        <p:nvSpPr>
          <p:cNvPr id="7" name="Text 5"/>
          <p:cNvSpPr/>
          <p:nvPr/>
        </p:nvSpPr>
        <p:spPr>
          <a:xfrm>
            <a:off x="812800" y="1951906"/>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Coughlin, M. W., Burdge, K., Duev, D. A., et al. 2021, MNRAS, 505, 2954</a:t>
            </a:r>
            <a:endParaRPr lang="en-US" sz="1300" dirty="0"/>
          </a:p>
        </p:txBody>
      </p:sp>
      <p:sp>
        <p:nvSpPr>
          <p:cNvPr id="8" name="Text 6"/>
          <p:cNvSpPr/>
          <p:nvPr/>
        </p:nvSpPr>
        <p:spPr>
          <a:xfrm>
            <a:off x="812800" y="2242703"/>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Dubath, P., Rimoldini, L., Süveges, M., et al. 2011, MNRAS, 414, 2602</a:t>
            </a:r>
            <a:endParaRPr lang="en-US" sz="1300" dirty="0"/>
          </a:p>
        </p:txBody>
      </p:sp>
      <p:sp>
        <p:nvSpPr>
          <p:cNvPr id="9" name="Text 7"/>
          <p:cNvSpPr/>
          <p:nvPr/>
        </p:nvSpPr>
        <p:spPr>
          <a:xfrm>
            <a:off x="812800" y="2533514"/>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Graham, M. J., Drake, A. J., Djorgovski, S. G., Mahabal, A. A., &amp; Donalek, C. 2013, MNRAS, 434, 2629</a:t>
            </a:r>
            <a:endParaRPr lang="en-US" sz="1300" dirty="0"/>
          </a:p>
        </p:txBody>
      </p:sp>
      <p:sp>
        <p:nvSpPr>
          <p:cNvPr id="10" name="Text 8"/>
          <p:cNvSpPr/>
          <p:nvPr/>
        </p:nvSpPr>
        <p:spPr>
          <a:xfrm>
            <a:off x="812800" y="2824311"/>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Henao, S. 2021, The Other Spectrum of the Stars, proyecto de grado, Universidad de los Andes</a:t>
            </a:r>
            <a:endParaRPr lang="en-US" sz="1300" dirty="0"/>
          </a:p>
        </p:txBody>
      </p:sp>
      <p:sp>
        <p:nvSpPr>
          <p:cNvPr id="11" name="Text 9"/>
          <p:cNvSpPr/>
          <p:nvPr/>
        </p:nvSpPr>
        <p:spPr>
          <a:xfrm>
            <a:off x="812800" y="3115109"/>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Lomb, N. R. 1976, Ap&amp;SS, 39, 447</a:t>
            </a:r>
            <a:endParaRPr lang="en-US" sz="1300" dirty="0"/>
          </a:p>
        </p:txBody>
      </p:sp>
      <p:sp>
        <p:nvSpPr>
          <p:cNvPr id="12" name="Text 10"/>
          <p:cNvSpPr/>
          <p:nvPr/>
        </p:nvSpPr>
        <p:spPr>
          <a:xfrm>
            <a:off x="812800" y="3405919"/>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McNemar, Q. 1947, Psychometrika, 12, 153</a:t>
            </a:r>
            <a:endParaRPr lang="en-US" sz="1300" dirty="0"/>
          </a:p>
        </p:txBody>
      </p:sp>
      <p:sp>
        <p:nvSpPr>
          <p:cNvPr id="13" name="Text 11"/>
          <p:cNvSpPr/>
          <p:nvPr/>
        </p:nvSpPr>
        <p:spPr>
          <a:xfrm>
            <a:off x="812800" y="3696717"/>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Scargle, J. D. 1982, ApJ, 263, 835</a:t>
            </a:r>
            <a:endParaRPr lang="en-US" sz="1300" dirty="0"/>
          </a:p>
        </p:txBody>
      </p:sp>
      <p:sp>
        <p:nvSpPr>
          <p:cNvPr id="14" name="Text 12"/>
          <p:cNvSpPr/>
          <p:nvPr/>
        </p:nvSpPr>
        <p:spPr>
          <a:xfrm>
            <a:off x="812800" y="3987515"/>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Schwarz, G. 1978, The Annals of Statistics, 6, 461</a:t>
            </a:r>
            <a:endParaRPr lang="en-US" sz="1300" dirty="0"/>
          </a:p>
        </p:txBody>
      </p:sp>
      <p:sp>
        <p:nvSpPr>
          <p:cNvPr id="15" name="Text 13"/>
          <p:cNvSpPr/>
          <p:nvPr/>
        </p:nvSpPr>
        <p:spPr>
          <a:xfrm>
            <a:off x="812800" y="4278313"/>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Soszyński, I. 2024, Contributions of the Astronomical Observatory Skalnaté Pleso, 54, 234</a:t>
            </a:r>
            <a:endParaRPr lang="en-US" sz="1300" dirty="0"/>
          </a:p>
        </p:txBody>
      </p:sp>
      <p:sp>
        <p:nvSpPr>
          <p:cNvPr id="16" name="Text 14"/>
          <p:cNvSpPr/>
          <p:nvPr/>
        </p:nvSpPr>
        <p:spPr>
          <a:xfrm>
            <a:off x="812800" y="4569123"/>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Soszyński, I., &amp; OGLE Team, s.f., OGLE Atlas of Variable Star Light Curves, https://ogle.astrouw.edu.pl/atlas/</a:t>
            </a:r>
            <a:endParaRPr lang="en-US" sz="1300" dirty="0"/>
          </a:p>
        </p:txBody>
      </p:sp>
      <p:sp>
        <p:nvSpPr>
          <p:cNvPr id="17" name="Text 15"/>
          <p:cNvSpPr/>
          <p:nvPr/>
        </p:nvSpPr>
        <p:spPr>
          <a:xfrm>
            <a:off x="812800" y="4859920"/>
            <a:ext cx="10883392" cy="2400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2E2E2A"/>
                </a:solidFill>
                <a:latin typeface="Libre Franklin" pitchFamily="34" charset="0"/>
                <a:ea typeface="Libre Franklin" pitchFamily="34" charset="-122"/>
                <a:cs typeface="Libre Franklin" pitchFamily="34" charset="-120"/>
              </a:rPr>
              <a:t>Zechmeister, M., &amp; Kürster, M. 2009, A&amp;A, 496, 577</a:t>
            </a:r>
            <a:endParaRPr lang="en-US" sz="1300" dirty="0"/>
          </a:p>
        </p:txBody>
      </p:sp>
      <p:sp>
        <p:nvSpPr>
          <p:cNvPr id="18" name="Text 16"/>
          <p:cNvSpPr/>
          <p:nvPr/>
        </p:nvSpPr>
        <p:spPr>
          <a:xfrm>
            <a:off x="11132200" y="6289104"/>
            <a:ext cx="247001"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A64"/>
                </a:solidFill>
                <a:latin typeface="Libre Franklin" pitchFamily="34" charset="0"/>
                <a:ea typeface="Libre Franklin" pitchFamily="34" charset="-122"/>
                <a:cs typeface="Libre Franklin" pitchFamily="34" charset="-120"/>
              </a:rPr>
              <a:t>20</a:t>
            </a:r>
            <a:endParaRPr lang="en-US" sz="1200" dirty="0"/>
          </a:p>
        </p:txBody>
      </p:sp>
    </p:spTree>
  </p:cSld>
  <p:clrMapOvr>
    <a:masterClrMapping/>
  </p:clrMapOvr>
</p:sld>
</file>

<file path=ppt/theme/theme1.xml><?xml version="1.0" encoding="utf-8"?>
<a:theme xmlns:a="http://schemas.openxmlformats.org/drawingml/2006/main" name="Avances: método híbrido de periodos">
  <a:themeElements>
    <a:clrScheme name="Avances: método híbrido de periodos">
      <a:dk1>
        <a:srgbClr val="141412"/>
      </a:dk1>
      <a:lt1>
        <a:srgbClr val="FFFFFF"/>
      </a:lt1>
      <a:dk2>
        <a:srgbClr val="4F4F4D"/>
      </a:dk2>
      <a:lt2>
        <a:srgbClr val="E8E8E7"/>
      </a:lt2>
      <a:accent1>
        <a:srgbClr val="F5D04C"/>
      </a:accent1>
      <a:accent2>
        <a:srgbClr val="4596A4"/>
      </a:accent2>
      <a:accent3>
        <a:srgbClr val="7BA654"/>
      </a:accent3>
      <a:accent4>
        <a:srgbClr val="5E7E3E"/>
      </a:accent4>
      <a:accent5>
        <a:srgbClr val="4F7A2E"/>
      </a:accent5>
      <a:accent6>
        <a:srgbClr val="2F6F7A"/>
      </a:accent6>
      <a:hlink>
        <a:srgbClr val="0563C1"/>
      </a:hlink>
      <a:folHlink>
        <a:srgbClr val="954F72"/>
      </a:folHlink>
    </a:clrScheme>
    <a:fontScheme name="Avances: método híbrido de periodos">
      <a:majorFont>
        <a:latin typeface="Archivo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re Frankli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3704</Words>
  <Application>Microsoft Office PowerPoint</Application>
  <PresentationFormat>Panorámica</PresentationFormat>
  <Paragraphs>226</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Archivo Black</vt:lpstr>
      <vt:lpstr>Arial</vt:lpstr>
      <vt:lpstr>Libre Franklin</vt:lpstr>
      <vt:lpstr>Avances: método híbrido de periodos</vt:lpstr>
      <vt:lpstr>Determinación de periodicidad en estrellas variables mediante la combinación del periodograma de Lomb–Scargle y el método de mínima entropía</vt:lpstr>
      <vt:lpstr>La charla recorre seis partes, del estado del arte al cronograma</vt:lpstr>
      <vt:lpstr>El periodo permite clasificar las estrellas variables y estimar sus distancias</vt:lpstr>
      <vt:lpstr>Lomb–Scargle ajusta una sinusoide; la mínima entropía mide el orden del plegado</vt:lpstr>
      <vt:lpstr>Las comparaciones previas coinciden: los armónicos y los alias siguen sin resolverse</vt:lpstr>
      <vt:lpstr>Las debilidades de ambos métodos son complementarias, lo que motiva combinarlos</vt:lpstr>
      <vt:lpstr>El objetivo es desarrollar y validar ese método combinado</vt:lpstr>
      <vt:lpstr>Hoy se cuenta con más de 93 000 variables de OGLE con periodo catalogado</vt:lpstr>
      <vt:lpstr>Cada método se evalúa contra el periodo catalogado de muestras aleatorias</vt:lpstr>
      <vt:lpstr>El método híbrido combina ambos criterios y luego elige el múltiplo del periodo</vt:lpstr>
      <vt:lpstr>En la etapa 1, el producto de rangos combina ambos criterios sin pesos libres</vt:lpstr>
      <vt:lpstr>El BIC sobre series de Fourier anidadas decide cuántas veces multiplicar P₀</vt:lpstr>
      <vt:lpstr>Lomb–Scargle domina en pulsantes; en binarias recupera la mitad del periodo</vt:lpstr>
      <vt:lpstr>La entropía condicional elimina los mínimos falsos que crea la cadencia diaria</vt:lpstr>
      <vt:lpstr>El método híbrido acierta en el 75.3% de 1000 binarias sin usar el catálogo</vt:lpstr>
      <vt:lpstr>La mejora es estadísticamente significativa en comparaciones pareadas</vt:lpstr>
      <vt:lpstr>Casi la mitad de los fallos restantes son errores de un factor 2 exacto</vt:lpstr>
      <vt:lpstr>Combinar ambos métodos supera a Lomb–Scargle en binarias eclipsantes</vt:lpstr>
      <vt:lpstr>El análisis en OGLE va adelantado; las curvas sintéticas están atrasadas</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Avances: método híbrido de periodos</dc:title>
  <dc:subject/>
  <dc:creator/>
  <cp:lastModifiedBy>Juan Aparicio</cp:lastModifiedBy>
  <cp:revision>2</cp:revision>
  <dcterms:created xsi:type="dcterms:W3CDTF">2026-10-08T21:36:52Z</dcterms:created>
  <dcterms:modified xsi:type="dcterms:W3CDTF">2026-10-08T23:09:29Z</dcterms:modified>
</cp:coreProperties>
</file>